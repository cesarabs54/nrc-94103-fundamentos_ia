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341" r:id="rId3"/>
    <p:sldId id="342" r:id="rId4"/>
    <p:sldId id="333" r:id="rId5"/>
    <p:sldId id="350" r:id="rId6"/>
    <p:sldId id="343" r:id="rId7"/>
    <p:sldId id="351" r:id="rId8"/>
    <p:sldId id="344" r:id="rId9"/>
    <p:sldId id="352" r:id="rId10"/>
    <p:sldId id="349" r:id="rId11"/>
    <p:sldId id="353" r:id="rId12"/>
    <p:sldId id="345" r:id="rId13"/>
    <p:sldId id="346" r:id="rId14"/>
    <p:sldId id="347" r:id="rId15"/>
    <p:sldId id="354" r:id="rId16"/>
    <p:sldId id="348" r:id="rId17"/>
    <p:sldId id="355" r:id="rId18"/>
    <p:sldId id="356" r:id="rId19"/>
    <p:sldId id="357" r:id="rId20"/>
    <p:sldId id="340" r:id="rId2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52C1F-6D6C-3ED2-B73E-A3EBECB4A953}" v="76" dt="2026-07-02T04:55:40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1F3BA-561E-40F8-BA69-B9204D365301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27F4A-87DB-494C-94B7-1D15149278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469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4D-178A-465A-B01D-00AE0C2E304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0552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A8A-E1D6-8CF5-4EB8-ABC9A4AA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35C38-A943-3D17-0E8A-AEA8D5894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FEF9-3730-016D-9CDE-3B1B6E19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EEA2-2345-6EB2-BCE8-A1B818E8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EA5-9047-2BBC-B0D6-50A93267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068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DAD-4B9A-3ACC-563D-3C1631C3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317E-A275-EB9C-BB7C-00FA7975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0F10-D002-7E04-82A2-50D8E20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2353-4F01-1FD0-B4A7-09B150A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4038-1BBC-367C-A8E8-D8CC6566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5404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70FD-4026-6E72-1D41-6EFB01B0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CADB-F992-A9C2-D7BB-A1E61939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CFC6-2EAB-BADC-175E-06FDE668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3F-18A4-2FBF-47EB-846F783B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02BF-9DEF-F8E6-50C2-2BB84E1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323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EC1-C52E-37AE-54FE-02C1046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8148-5BB6-28C8-5D95-C62BAB73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9FB9-DB1F-A4BD-DD43-9D4632829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5F19-236F-77B1-8F6A-1F49E2F9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E32-036C-010C-53B3-8F808C2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C1AC-E0AD-FEC5-B73C-7E3096A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307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A49-3836-B9B0-5A83-DBAD5547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0B-8F5D-B778-A0A8-DE255CCB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8625-B67B-1C49-DB51-28322435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F7BE-8B07-F480-6FB1-C0377B861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46F55-A237-1A8D-9BD9-2267FB26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A49-6ACD-AC40-ADD7-3B1E0D27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65F3-8D95-9871-4485-EAE2805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C1580-32B4-42A0-51B6-1D68128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9628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A983-83B7-3944-D04E-52A95EF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B081A-5123-25FF-9F69-5C4E9502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7B4B-5D28-166D-A374-84556A5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71D76-47B3-311A-EE8A-9259F4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1791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E274-1368-F3DD-1507-43DB4412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BD5B2-1814-55AD-CB11-F108A311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FC48-3DB3-7045-07A2-27A31271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335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DD91-9253-E181-7E12-C4A7AE32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BEBC-EF06-3BDA-0030-EC53CEFE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058DF-73E2-3986-019C-050390D67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FEDC-715B-59D2-9039-78D10E8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371A-4502-3350-D34E-E61E7E8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CF89-3CFC-8E9D-37B0-246D1BB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294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01F4-9DCC-00EE-35F4-83E797CE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A782E-F114-3F04-3674-2AD88FE12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1783-55EE-4F23-5519-1CF7F5C8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FE1FD-C55C-C36E-EB75-CF0C96AA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4F85-E388-EE6A-1B35-7E6E94E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E053E-DDCD-9FDC-C558-F07F86DB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1122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787-5B44-1E1E-C98E-17A43385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E95D-8B60-9DC1-5701-BF5437A6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7189-1220-7EF5-7467-74E03D5E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3B6-94DD-1E0D-6C9E-69E2399E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C061-8EC4-0C82-35F6-FB9C4BA3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5840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61572-E9BE-9B75-33EF-D4B71EA0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A8AB-F7E6-408B-EFB2-A16DB332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DF7-F334-D689-3F9A-C6C0356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5E46-8723-51E6-A678-AC81583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2E8-7C27-3FAE-A4BF-11960589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50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08DFF-3046-6ABB-BDE2-37A69F1A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D301-E944-EF85-1B1F-56F83B3E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C0A0-D3C7-157B-2681-77207473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194F7-949B-4C16-A53F-8E9583A4A0C5}" type="datetimeFigureOut">
              <a:rPr lang="es-CO" smtClean="0"/>
              <a:t>5/08/2026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C750-38DF-F531-0238-A869F733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002E-F8BD-2A7C-5F20-DC97119B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133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A636AB6E-D708-FC46-3E1B-AD35787DC531}"/>
              </a:ext>
            </a:extLst>
          </p:cNvPr>
          <p:cNvSpPr/>
          <p:nvPr/>
        </p:nvSpPr>
        <p:spPr>
          <a:xfrm>
            <a:off x="0" y="0"/>
            <a:ext cx="12192000" cy="6893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EBE24467-A941-3231-8A3E-21FD4EFF5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932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B023E5-08B0-2427-9715-09205CDB1D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82" t="36088" r="1507" b="26199"/>
          <a:stretch/>
        </p:blipFill>
        <p:spPr>
          <a:xfrm>
            <a:off x="10060726" y="5395594"/>
            <a:ext cx="1806809" cy="13230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78A125-782B-9B4C-F519-EACF80EA5374}"/>
              </a:ext>
            </a:extLst>
          </p:cNvPr>
          <p:cNvSpPr txBox="1"/>
          <p:nvPr/>
        </p:nvSpPr>
        <p:spPr>
          <a:xfrm>
            <a:off x="4375678" y="5937607"/>
            <a:ext cx="56008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s-ES">
                <a:latin typeface="Century Gothic"/>
              </a:rPr>
              <a:t>FUNDAMENTOS PARA IA · NRC 94103</a:t>
            </a:r>
            <a:endParaRPr lang="es-ES"/>
          </a:p>
          <a:p>
            <a:pPr algn="r"/>
            <a:r>
              <a:rPr lang="es-ES">
                <a:latin typeface="Century Gothic"/>
              </a:rPr>
              <a:t>Semana 6 · Agosto 2026</a:t>
            </a:r>
            <a:endParaRPr lang="es-CO">
              <a:latin typeface="Century Gothic" panose="020B0502020202020204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595C607-E050-1D31-A7F0-5C432315B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043" t="-3087" r="-3874" b="-2265"/>
          <a:stretch/>
        </p:blipFill>
        <p:spPr bwMode="auto">
          <a:xfrm rot="254132">
            <a:off x="1482100" y="1817745"/>
            <a:ext cx="3372018" cy="216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942E92C-F850-AC01-A952-6D862E39B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533" y="274062"/>
            <a:ext cx="3782002" cy="123679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5B1B1DD-C336-11D0-3F79-3F350C0F3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5294" y="2825567"/>
            <a:ext cx="8120478" cy="1797326"/>
          </a:xfrm>
        </p:spPr>
        <p:txBody>
          <a:bodyPr>
            <a:normAutofit/>
          </a:bodyPr>
          <a:lstStyle/>
          <a:p>
            <a:r>
              <a:rPr lang="es-CO" sz="4400" b="1">
                <a:solidFill>
                  <a:srgbClr val="FFC000"/>
                </a:solidFill>
                <a:latin typeface="Century Gothic"/>
              </a:rPr>
              <a:t>PRUEBA DE HIPÓTESIS: DECIDIR CON EVIDENCIA</a:t>
            </a:r>
            <a:endParaRPr lang="es-CO" sz="4400" b="1" dirty="0">
              <a:solidFill>
                <a:srgbClr val="FFC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9553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F0E97F75-4E8D-4225-ACDC-192F32266A97}"/>
              </a:ext>
            </a:extLst>
          </p:cNvPr>
          <p:cNvSpPr txBox="1">
            <a:spLocks/>
          </p:cNvSpPr>
          <p:nvPr/>
        </p:nvSpPr>
        <p:spPr>
          <a:xfrm>
            <a:off x="622716" y="139272"/>
            <a:ext cx="5913201" cy="5548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rdana"/>
                <a:ea typeface="+mj-ea"/>
                <a:cs typeface="+mj-cs"/>
              </a:rPr>
              <a:t>Tabla de Contenido</a:t>
            </a:r>
            <a:endParaRPr kumimoji="0" lang="es-CO" sz="3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rdana"/>
              <a:ea typeface="+mj-ea"/>
              <a:cs typeface="+mj-cs"/>
            </a:endParaRP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4AB2D2AB-799F-44C6-A8C2-F98B1C7C105E}"/>
              </a:ext>
            </a:extLst>
          </p:cNvPr>
          <p:cNvSpPr txBox="1"/>
          <p:nvPr/>
        </p:nvSpPr>
        <p:spPr>
          <a:xfrm>
            <a:off x="164505" y="1532450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01.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6DE6E35C-B117-43DD-A072-693CA0C8506F}"/>
              </a:ext>
            </a:extLst>
          </p:cNvPr>
          <p:cNvSpPr txBox="1"/>
          <p:nvPr/>
        </p:nvSpPr>
        <p:spPr>
          <a:xfrm>
            <a:off x="164505" y="3132567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02.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95FB1313-D0FA-4E96-B4A3-DD20E1991AC4}"/>
              </a:ext>
            </a:extLst>
          </p:cNvPr>
          <p:cNvSpPr txBox="1"/>
          <p:nvPr/>
        </p:nvSpPr>
        <p:spPr>
          <a:xfrm rot="10800000" flipV="1">
            <a:off x="893090" y="1696711"/>
            <a:ext cx="448429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Qué es una prueba de hipótesis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B0BE0913-DB4C-4916-9947-1697026CE0B3}"/>
              </a:ext>
            </a:extLst>
          </p:cNvPr>
          <p:cNvSpPr txBox="1"/>
          <p:nvPr/>
        </p:nvSpPr>
        <p:spPr>
          <a:xfrm>
            <a:off x="239764" y="4644334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03.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280CAB23-A6AD-465B-A138-12C209352194}"/>
              </a:ext>
            </a:extLst>
          </p:cNvPr>
          <p:cNvSpPr txBox="1"/>
          <p:nvPr/>
        </p:nvSpPr>
        <p:spPr>
          <a:xfrm>
            <a:off x="5413195" y="31072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05.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A4090016-0F69-433E-8CC4-F84AD53DBE15}"/>
              </a:ext>
            </a:extLst>
          </p:cNvPr>
          <p:cNvSpPr txBox="1"/>
          <p:nvPr/>
        </p:nvSpPr>
        <p:spPr>
          <a:xfrm>
            <a:off x="1093029" y="4792737"/>
            <a:ext cx="4484296" cy="32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Significancia, p-value y proceso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6E8B458C-996C-4092-94D5-2AB68B70AD7F}"/>
              </a:ext>
            </a:extLst>
          </p:cNvPr>
          <p:cNvSpPr txBox="1"/>
          <p:nvPr/>
        </p:nvSpPr>
        <p:spPr>
          <a:xfrm>
            <a:off x="6241489" y="1573935"/>
            <a:ext cx="4484296" cy="32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Ejemplo: planteamiento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C46DB1DF-06BF-4441-8C15-62E87A62DE40}"/>
              </a:ext>
            </a:extLst>
          </p:cNvPr>
          <p:cNvSpPr txBox="1"/>
          <p:nvPr/>
        </p:nvSpPr>
        <p:spPr>
          <a:xfrm>
            <a:off x="996573" y="3116745"/>
            <a:ext cx="448429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Hipótesis H0 y H1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DM Sans Bold"/>
              <a:ea typeface="+mn-ea"/>
              <a:cs typeface="+mn-cs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CE022EF-58EB-42DD-AA75-5219C0440962}"/>
              </a:ext>
            </a:extLst>
          </p:cNvPr>
          <p:cNvSpPr txBox="1"/>
          <p:nvPr/>
        </p:nvSpPr>
        <p:spPr>
          <a:xfrm>
            <a:off x="6383859" y="3121556"/>
            <a:ext cx="49604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Calibri"/>
                <a:cs typeface="Calibri"/>
              </a:rPr>
              <a:t>Ejemplo: cálculo e interpretación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F3A6312D-31F8-4D5C-8934-24A01ECA15C0}"/>
              </a:ext>
            </a:extLst>
          </p:cNvPr>
          <p:cNvSpPr txBox="1"/>
          <p:nvPr/>
        </p:nvSpPr>
        <p:spPr>
          <a:xfrm>
            <a:off x="5413728" y="1540473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04.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80A445F9-F3F3-4363-A875-A1E852063013}"/>
              </a:ext>
            </a:extLst>
          </p:cNvPr>
          <p:cNvSpPr txBox="1"/>
          <p:nvPr/>
        </p:nvSpPr>
        <p:spPr>
          <a:xfrm>
            <a:off x="5485614" y="46383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06.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F79177-F72B-A56A-B375-1ABE30756E86}"/>
              </a:ext>
            </a:extLst>
          </p:cNvPr>
          <p:cNvSpPr txBox="1"/>
          <p:nvPr/>
        </p:nvSpPr>
        <p:spPr>
          <a:xfrm>
            <a:off x="6380104" y="4602103"/>
            <a:ext cx="3928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Errores comunes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20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¿Qué es una prueba de hipótesis?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Definición: </a:t>
            </a:r>
            <a:r>
              <a:rPr lang="es-CO" sz="1700" dirty="0"/>
              <a:t>un procedimiento para decidir, con datos, si algo que observamos es un efecto real o pura casualidad.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Analogía: </a:t>
            </a:r>
            <a:r>
              <a:rPr lang="es-CO" sz="1700" dirty="0"/>
              <a:t>es como decidir si la moneda de un amigo está “cargada” porque salió cara 7 de 10 veces, o si fue solo suerte.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¿el género del estudiante realmente influye en el puntaje de matemáticas, o la diferencia que vemos es azar muestral?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cuando quieres comparar grupos, validar si una intervención tuvo efecto, o decidir si una diferencia observada en tus datos es real o azar.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>
                <a:solidFill>
                  <a:schemeClr val="bg1"/>
                </a:solidFill>
              </a:rPr>
              <a:t>Ejercicio: ¿es candidata para una prueba de hipótesis?</a:t>
            </a:r>
            <a:endParaRPr lang="es-CO" sz="24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 A: </a:t>
            </a:r>
            <a:r>
              <a:rPr lang="es-CO" sz="1700" dirty="0"/>
              <a:t>comparar el promedio de math score entre hombres y mujeres, para saber si la diferencia se sostiene en toda la población.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 B: </a:t>
            </a:r>
            <a:r>
              <a:rPr lang="es-CO" sz="1700" dirty="0"/>
              <a:t>solo reportar cuántos estudiantes hay en cada grupo de lunch (standard vs. free/reduced).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A sí es candidata (hay comparación + generalización); B no lo es (es pura descripción/conteo).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distinguir describir de inferir es el primer paso para saber si necesitas una prueba de hipótesis.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chemeClr val="bg1"/>
                </a:solidFill>
              </a:rPr>
              <a:t>Hipótesis nula (H0) y alternativa (H1)</a:t>
            </a:r>
            <a:endParaRPr lang="es-CO" sz="36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Hipótesis nula (H0): </a:t>
            </a:r>
            <a:r>
              <a:rPr lang="es-CO" sz="1700" dirty="0"/>
              <a:t>la postura conservadora: “no pasa nada especial” — en notación formal, μ₁ = μ₂ (las medias son iguales).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Hipótesis alternativa (H1): </a:t>
            </a:r>
            <a:r>
              <a:rPr lang="es-CO" sz="1700" dirty="0"/>
              <a:t>la postura contraria: “sí hay diferencia” — en notación formal, μ₁ ≠ μ₂ (prueba de dos colas).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Ejemplo: </a:t>
            </a:r>
            <a:r>
              <a:rPr lang="es-CO" sz="1700" i="1" dirty="0"/>
              <a:t>H0: μ(género A) = μ(género B) en math score. H1: μ(género A) ≠ μ(género B).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siempre que planteas una pregunta comparativa o de relación entre variables; es el primer paso de cualquier prueba de hipótesis.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dirty="0">
                <a:solidFill>
                  <a:schemeClr val="bg1"/>
                </a:solidFill>
              </a:rPr>
              <a:t>Ejercicio: formular H0 y H1 con más de 2 grupos</a:t>
            </a:r>
            <a:endParaRPr lang="es-CO" sz="28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quieres saber si el nivel educativo de los padres (6 categorías) se relaciona con el puntaje de matemáticas.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escribe H0 y H1. ¿Por qué H0 no puede ser simplemente “las medias son diferentes”?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H0: las 6 medias son iguales. H1: al menos una difiere (dato real: p = 5.59×10⁻⁶, se rechaza H0).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“al menos una difiere” no es lo mismo que “todas son distintas entre sí”.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Significancia (α) y valor p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Nivel de significancia (α): </a:t>
            </a:r>
            <a:r>
              <a:rPr lang="es-CO" sz="1700" dirty="0"/>
              <a:t>el “umbral de sorpresa” que aceptamos de antemano. Convención habitual: α = 0.05 (5% de riesgo aceptado).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Valor p: </a:t>
            </a:r>
            <a:r>
              <a:rPr lang="es-CO" sz="1700" dirty="0"/>
              <a:t>la probabilidad de ver un resultado tan extremo como el tuyo, asumiendo que H0 es cierta. No es la probabilidad de que H0 sea verdadera.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Regla de decisión: </a:t>
            </a:r>
            <a:r>
              <a:rPr lang="es-CO" sz="1700" i="1" dirty="0"/>
              <a:t>p &lt; α → se rechaza H0 (evidencia significativa); p ≥ α → no se rechaza H0 (evidencia insuficiente).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interpretar el resultado de cualquier prueba estadística (t, ANOVA, correlación, chi-cuadrado, etc.) para decidir si rechazar H0.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chemeClr val="bg1"/>
                </a:solidFill>
              </a:rPr>
              <a:t>Ejercicio: interpretar un p-value dado</a:t>
            </a:r>
            <a:endParaRPr lang="es-CO" sz="36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aplicaste una prueba y obtuviste p-value = 0.023, con α = 0.05.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¿rechazas H0? ¿Qué error cometerías si dijeras “hay 2.3% de probabilidad de que H0 sea verdadera”?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se rechaza H0 (0.023 &lt; 0.05); el error es confundir P(datos|H0) con P(H0|datos) — no son lo mismo.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el p-value nunca es “la probabilidad de que H0 sea cierta”.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Proceso paso a paso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49999"/>
            <a:ext cx="10515600" cy="45181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Plantear la pregunta y las hipótesis (H0 y H1)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, antes de mirar los resultados.</a:t>
            </a: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Elegir las variables: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 identificar la variable dependiente (lo que se mide) y la independiente (lo que se compara).</a:t>
            </a: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Describir la muestra: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 tamaño de cada grupo, medias, desviaciones estándar.</a:t>
            </a: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Validar los supuestos: 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normalidad (con la prueba de Shapiro-Wilk) y homogeneidad de varianzas (con la prueba de Levene), para decidir entre una prueba paramétrica o no paramétrica.</a:t>
            </a: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Aplicar la prueba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 y obtener el estadístico y el p-</a:t>
            </a:r>
            <a:r>
              <a:rPr lang="es-CO" sz="1600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Comparar el p-</a:t>
            </a:r>
            <a:r>
              <a:rPr lang="es-CO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 con α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 y tomar la decisión sobre H0.</a:t>
            </a:r>
          </a:p>
          <a:p>
            <a:pPr marL="342900" lvl="0" indent="-342900">
              <a:lnSpc>
                <a:spcPct val="125000"/>
              </a:lnSpc>
              <a:buFont typeface="+mj-lt"/>
              <a:buAutoNum type="arabicPeriod"/>
            </a:pP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Traducir el resultado a lenguaje natural,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 conectado con la pregunta original, un número solo no le sirve a nadie.</a:t>
            </a: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endParaRPr lang="es-CO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s-CO" sz="1600" b="1" dirty="0">
                <a:latin typeface="Arial" panose="020B0604020202020204" pitchFamily="34" charset="0"/>
                <a:cs typeface="Arial" panose="020B0604020202020204" pitchFamily="34" charset="0"/>
              </a:rPr>
              <a:t>¿Cuándo se usa?: </a:t>
            </a: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en cualquier prueba de hipótesis, sin importar las variables: este orden de 7 pasos es siempre el mismo.</a:t>
            </a:r>
          </a:p>
          <a:p>
            <a:pPr>
              <a:lnSpc>
                <a:spcPct val="115000"/>
              </a:lnSpc>
            </a:pP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buFont typeface="Arial"/>
              <a:buChar char="•"/>
            </a:pPr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Ver ejercicio 4 apartado 4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dirty="0">
                <a:solidFill>
                  <a:schemeClr val="bg1"/>
                </a:solidFill>
              </a:rPr>
              <a:t>Ejercicio: elegir la prueba a partir de los supuestos</a:t>
            </a:r>
            <a:endParaRPr lang="es-CO" sz="28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 (hipotética): </a:t>
            </a:r>
            <a:r>
              <a:rPr lang="es-CO" sz="1700" dirty="0"/>
              <a:t>Shapiro-Wilk grupo A p = 0.002, grupo B p = 0.41; Levene p = 0.03.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¿se cumple la normalidad? ¿La homogeneidad de varianzas? ¿Qué prueba usarías?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ninguna se cumple del todo → Mann-Whitney U; o t de Welch si se prefiere una paramétrica.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el paso 4 (validar supuestos) determina qué herramienta usar en el paso 5.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</a:rPr>
              <a:t>Ejemplo: planteamiento del problema</a:t>
            </a:r>
            <a:endParaRPr lang="es-CO" sz="32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Dataset: </a:t>
            </a:r>
            <a:r>
              <a:rPr lang="es-CO" sz="1700" dirty="0"/>
              <a:t>StudentsPerformance.csv, 1000 estudiantes; variable dependiente = math score, independiente = gender.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¿existe una diferencia significativa en el puntaje de matemáticas entre hombres y mujeres?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Hipótesis: </a:t>
            </a:r>
            <a:r>
              <a:rPr lang="es-CO" sz="1700" i="1" dirty="0"/>
              <a:t>H0: μ(hombres) = μ(mujeres)   |   H1: μ(hombres) ≠ μ(mujeres)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iniciar cualquier análisis con datos reales: define la pregunta y las hipótesis antes de calcular nada.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Ejemplo: cálculo de la prueba t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Muestra: </a:t>
            </a:r>
            <a:r>
              <a:rPr lang="es-CO" sz="1700" dirty="0"/>
              <a:t>n = 1000 (482 hombres, 518 mujeres). Promedio hombres = 68.73; promedio mujeres = 63.63.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Supuestos: </a:t>
            </a:r>
            <a:r>
              <a:rPr lang="es-CO" sz="1700" dirty="0"/>
              <a:t>Levene (varianzas) p = 0.556 → se cumple homogeneidad. Shapiro-Wilk sugiere no-normalidad, pero con n &gt; 480 por grupo la prueba t es robusta (Teorema del Límite Central).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Resultado: </a:t>
            </a:r>
            <a:r>
              <a:rPr lang="es-CO" sz="1700" i="1" dirty="0"/>
              <a:t>t = 5.38 (df = 998), p-value = 9.12×10⁻⁸. Verificación con Mann-Whitney U: p = 4.28×10⁻⁷ (misma conclusión).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 la prueba t?: </a:t>
            </a:r>
            <a:r>
              <a:rPr lang="es-CO" sz="1700" dirty="0"/>
              <a:t>para comparar el promedio de una variable numérica entre exactamente 2 grupos independientes. Con 3+ grupos: ANOVA; con datos pareados: t pareada; con variables categóricas: chi-cuadrado.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b="1" dirty="0">
                <a:solidFill>
                  <a:schemeClr val="bg1"/>
                </a:solidFill>
              </a:rPr>
              <a:t>Ejemplo: interpretación del resultado</a:t>
            </a:r>
            <a:endParaRPr lang="es-CO" sz="36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Decisión: </a:t>
            </a:r>
            <a:r>
              <a:rPr lang="es-CO" sz="1700" dirty="0"/>
              <a:t>el p-value (0.00000009) es muchísimo menor que α (0.05) → se rechaza H0.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En palabras simples: </a:t>
            </a:r>
            <a:r>
              <a:rPr lang="es-CO" sz="1700" dirty="0"/>
              <a:t>hay evidencia muy fuerte de que el puntaje promedio de matemáticas difiere entre hombres y mujeres (~5 puntos de diferencia).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Cuidado: </a:t>
            </a:r>
            <a:r>
              <a:rPr lang="es-CO" sz="1700" i="1" dirty="0"/>
              <a:t>es una asociación observada, no una prueba de que el género cause la diferencia; podría haber otros factores de fondo.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¿Cuándo se usa?: </a:t>
            </a:r>
            <a:r>
              <a:rPr lang="es-CO" sz="1700" dirty="0"/>
              <a:t>al comunicar resultados en un informe, portafolio o presentación, para traducir el número en una conclusión clara.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>
                <a:solidFill>
                  <a:schemeClr val="bg1"/>
                </a:solidFill>
              </a:rPr>
              <a:t>Ejercicio: aplica los pasos 6 y 7 con datos ya calculados</a:t>
            </a:r>
            <a:endParaRPr lang="es-CO" sz="24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writing score según lunch: standard (n=645, media=70.82) vs. free/reduced (n=355, media=63.02); Levene p=0.105; t=8.01, p=3.19×10⁻¹⁵.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¿se rechaza H0? Redacta la interpretación conectada con la pregunta original.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se rechaza H0; el almuerzo standard se asocia con ≈7.8 puntos más en escritura (asociación, no causalidad).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aplicar el mismo proceso a datos nuevos es la mejor forma de afianzarlo.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</a:rPr>
              <a:t>Errores comunes al interpretar resultados</a:t>
            </a:r>
            <a:endParaRPr lang="es-CO" sz="32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“No significativo” ≠ “no hay diferencia”: </a:t>
            </a:r>
            <a:r>
              <a:rPr lang="es-CO" sz="1700" dirty="0"/>
              <a:t>un p-value alto solo dice que falta evidencia, no que H0 sea verdadera.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 pequeño ≠ efecto grande: </a:t>
            </a:r>
            <a:r>
              <a:rPr lang="es-CO" sz="1700" dirty="0"/>
              <a:t>con muestras grandes, hasta diferencias mínimas producen un p-value diminuto.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Asociación ≠ causalidad: </a:t>
            </a:r>
            <a:r>
              <a:rPr lang="es-CO" sz="1700" dirty="0"/>
              <a:t>rechazar H0 en datos observacionales no prueba que una variable cause la otra; podría haber variables de confusión.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“Pescar” resultados (p-hacking): </a:t>
            </a:r>
            <a:r>
              <a:rPr lang="es-CO" sz="1700" i="1" dirty="0"/>
              <a:t>probar muchas combinaciones hasta encontrar p &lt; 0.05 y reportar solo esa es engañoso: con suficientes intentos, algo “dará significativo” por puro azar.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dirty="0">
                <a:solidFill>
                  <a:schemeClr val="bg1"/>
                </a:solidFill>
              </a:rPr>
              <a:t>Ejercicio: detectar el error en una interpretación</a:t>
            </a:r>
            <a:endParaRPr lang="es-CO" sz="28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“Obtuve un p-value de 0.001, así que estoy 99.9% seguro de que el curso causa la mejora en la nota.”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identifica dos errores distintos en esta afirmación.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1) el p-value no es una “certeza” de H1; 2) datos observacionales no prueban causalidad.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son los dos errores más comunes al comunicar resultados estadísticos.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>
                <a:solidFill>
                  <a:schemeClr val="bg1"/>
                </a:solidFill>
              </a:rPr>
              <a:t>Ejercicio: significancia estadística vs. tamaño del efecto</a:t>
            </a:r>
            <a:endParaRPr lang="es-CO" sz="24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Estudio A: </a:t>
            </a:r>
            <a:r>
              <a:rPr lang="es-CO" sz="1700" dirty="0"/>
              <a:t>n=30 por grupo, diferencia de medias=8 puntos, p=0.09.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Estudio B: </a:t>
            </a:r>
            <a:r>
              <a:rPr lang="es-CO" sz="1700" dirty="0"/>
              <a:t>n=5000 por grupo, diferencia de medias=0.3 puntos, p=0.001.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solo B rechaza H0, pero la diferencia de A (8 puntos) es probablemente más relevante en la práctica.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una muestra enorme puede volver “significativo” un efecto diminuto e irrelevante.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-2185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800" b="1" dirty="0">
                <a:solidFill>
                  <a:schemeClr val="bg1"/>
                </a:solidFill>
              </a:rPr>
              <a:t>Ejercicio: errores tipo I y II en un caso médico</a:t>
            </a:r>
            <a:endParaRPr lang="es-CO" sz="2800" b="1" dirty="0">
              <a:solidFill>
                <a:schemeClr val="bg1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1450000"/>
            <a:ext cx="10515600" cy="51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Situación: </a:t>
            </a:r>
            <a:r>
              <a:rPr lang="es-CO" sz="1700" dirty="0"/>
              <a:t>un hospital evalúa un tratamiento nuevo para la presión arterial. H0: no reduce más que el estándar.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Pregunta: </a:t>
            </a:r>
            <a:r>
              <a:rPr lang="es-CO" sz="1700" dirty="0"/>
              <a:t>¿qué significaría un error tipo I aquí? ¿Y un error tipo II?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Respuesta: </a:t>
            </a:r>
            <a:r>
              <a:rPr lang="es-CO" sz="1700" i="1" dirty="0"/>
              <a:t>tipo I: adoptar un tratamiento que no funciona; tipo II: descartar uno que sí funciona.</a:t>
            </a:r>
          </a:p>
          <a:p>
            <a:pPr marL="285750" indent="-285750">
              <a:lnSpc>
                <a:spcPct val="115000"/>
              </a:lnSpc>
              <a:spcAft>
                <a:spcPts val="1800"/>
              </a:spcAft>
              <a:buFont typeface="Arial"/>
              <a:buChar char="•"/>
            </a:pPr>
            <a:r>
              <a:rPr lang="es-CO" sz="1700" b="1" dirty="0"/>
              <a:t>¿Por qué importa?: </a:t>
            </a:r>
            <a:r>
              <a:rPr lang="es-CO" sz="1700" dirty="0"/>
              <a:t>en decisiones médicas, ambos errores tienen consecuencias reales para los pacientes.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FB09-AAE8-62F0-3A62-E003F41D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FFB1F00-BE97-BE98-7D23-907738D05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" y="1895"/>
            <a:ext cx="12192000" cy="6858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F2E2F08-52A4-C49F-8F6A-FFD7963C4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3493" y="352325"/>
            <a:ext cx="4193066" cy="12618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4F57740-2D4F-3CF9-5FAE-C46DADEBE4AF}"/>
              </a:ext>
            </a:extLst>
          </p:cNvPr>
          <p:cNvSpPr txBox="1"/>
          <p:nvPr/>
        </p:nvSpPr>
        <p:spPr>
          <a:xfrm>
            <a:off x="423578" y="4402909"/>
            <a:ext cx="11016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i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www.uniminuto.edu</a:t>
            </a:r>
            <a:r>
              <a:rPr lang="es-ES" sz="2800" b="1" i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/uniminuto-virtual</a:t>
            </a:r>
            <a:endParaRPr lang="es-CO" sz="2800" b="1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906353-C08E-4548-090D-A1EBFD47B7BF}"/>
              </a:ext>
            </a:extLst>
          </p:cNvPr>
          <p:cNvSpPr txBox="1"/>
          <p:nvPr/>
        </p:nvSpPr>
        <p:spPr>
          <a:xfrm>
            <a:off x="3535712" y="1938579"/>
            <a:ext cx="5784486" cy="12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8000" b="1" kern="1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GRACIAS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0A3E55B8-D253-DBAD-1101-11B3FFFC1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043" t="-3087" r="-3874" b="-2265"/>
          <a:stretch/>
        </p:blipFill>
        <p:spPr bwMode="auto">
          <a:xfrm rot="254132">
            <a:off x="1873003" y="1932882"/>
            <a:ext cx="2224970" cy="121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92E92B6-11F2-A11D-1E16-791654733331}"/>
              </a:ext>
            </a:extLst>
          </p:cNvPr>
          <p:cNvSpPr/>
          <p:nvPr/>
        </p:nvSpPr>
        <p:spPr>
          <a:xfrm>
            <a:off x="160357" y="921392"/>
            <a:ext cx="7401413" cy="122575"/>
          </a:xfrm>
          <a:prstGeom prst="rect">
            <a:avLst/>
          </a:prstGeom>
          <a:solidFill>
            <a:srgbClr val="FEB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B3FEE3-64D0-772A-0A61-D11F12ECF337}"/>
              </a:ext>
            </a:extLst>
          </p:cNvPr>
          <p:cNvSpPr txBox="1"/>
          <p:nvPr/>
        </p:nvSpPr>
        <p:spPr>
          <a:xfrm>
            <a:off x="2985950" y="3172713"/>
            <a:ext cx="6142437" cy="11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es-ES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</a:t>
            </a:r>
            <a:r>
              <a:rPr lang="es-ES" sz="16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Educamos sin fronteras transformándonos para el futuro con </a:t>
            </a:r>
          </a:p>
          <a:p>
            <a:pPr>
              <a:lnSpc>
                <a:spcPts val="4000"/>
              </a:lnSpc>
            </a:pPr>
            <a:r>
              <a:rPr lang="es-ES" sz="4400" b="1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 CALIDAD Y CALIDEZ</a:t>
            </a:r>
            <a:endParaRPr lang="es-CO" sz="4400" b="1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B92EF03-AA5F-BDC6-8DD7-15962ED54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4883" y="5628381"/>
            <a:ext cx="1427032" cy="78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77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1832</Words>
  <Application>Microsoft Office PowerPoint</Application>
  <PresentationFormat>Panorámica</PresentationFormat>
  <Paragraphs>108</Paragraphs>
  <Slides>19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19</vt:i4>
      </vt:variant>
    </vt:vector>
  </HeadingPairs>
  <TitlesOfParts>
    <vt:vector size="30" baseType="lpstr">
      <vt:lpstr>Aptos</vt:lpstr>
      <vt:lpstr>Aptos Display</vt:lpstr>
      <vt:lpstr>Aptos Narrow</vt:lpstr>
      <vt:lpstr>Arial</vt:lpstr>
      <vt:lpstr>Calibri</vt:lpstr>
      <vt:lpstr>Calibri Light</vt:lpstr>
      <vt:lpstr>Cardana</vt:lpstr>
      <vt:lpstr>Century Gothic</vt:lpstr>
      <vt:lpstr>DM Sans Bold</vt:lpstr>
      <vt:lpstr>Tema de Office</vt:lpstr>
      <vt:lpstr>Office Theme</vt:lpstr>
      <vt:lpstr>PRUEBA DE HIPÓTESIS: DECIDIR CON EVIDENCIA</vt:lpstr>
      <vt:lpstr>Presentación de PowerPoint</vt:lpstr>
      <vt:lpstr>¿Qué es una prueba de hipótesis?</vt:lpstr>
      <vt:lpstr>Ejercicio: ¿es candidata para una prueba de hipótesis?</vt:lpstr>
      <vt:lpstr>Hipótesis nula (H0) y alternativa (H1)</vt:lpstr>
      <vt:lpstr>Ejercicio: formular H0 y H1 con más de 2 grupos</vt:lpstr>
      <vt:lpstr>Significancia (α) y valor p</vt:lpstr>
      <vt:lpstr>Ejercicio: interpretar un p-value dado</vt:lpstr>
      <vt:lpstr>Proceso paso a paso</vt:lpstr>
      <vt:lpstr>Ejercicio: elegir la prueba a partir de los supuestos</vt:lpstr>
      <vt:lpstr>Ejemplo: planteamiento del problema</vt:lpstr>
      <vt:lpstr>Ejemplo: cálculo de la prueba t</vt:lpstr>
      <vt:lpstr>Ejemplo: interpretación del resultado</vt:lpstr>
      <vt:lpstr>Ejercicio: aplica los pasos 6 y 7 con datos ya calculados</vt:lpstr>
      <vt:lpstr>Errores comunes al interpretar resultados</vt:lpstr>
      <vt:lpstr>Ejercicio: detectar el error en una interpretación</vt:lpstr>
      <vt:lpstr>Ejercicio: significancia estadística vs. tamaño del efecto</vt:lpstr>
      <vt:lpstr>Ejercicio: errores tipo I y II en un caso médico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</cp:lastModifiedBy>
  <cp:revision>57</cp:revision>
  <dcterms:created xsi:type="dcterms:W3CDTF">2024-01-22T15:06:30Z</dcterms:created>
  <dcterms:modified xsi:type="dcterms:W3CDTF">2026-08-05T21:37:37Z</dcterms:modified>
</cp:coreProperties>
</file>