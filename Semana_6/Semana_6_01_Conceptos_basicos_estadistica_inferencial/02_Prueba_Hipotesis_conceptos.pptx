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341" r:id="rId3"/>
    <p:sldId id="342" r:id="rId4"/>
    <p:sldId id="333" r:id="rId5"/>
    <p:sldId id="350" r:id="rId20"/>
    <p:sldId id="343" r:id="rId13"/>
    <p:sldId id="351" r:id="rId21"/>
    <p:sldId id="344" r:id="rId14"/>
    <p:sldId id="352" r:id="rId22"/>
    <p:sldId id="349" r:id="rId19"/>
    <p:sldId id="353" r:id="rId23"/>
    <p:sldId id="345" r:id="rId15"/>
    <p:sldId id="346" r:id="rId16"/>
    <p:sldId id="347" r:id="rId17"/>
    <p:sldId id="354" r:id="rId24"/>
    <p:sldId id="348" r:id="rId18"/>
    <p:sldId id="355" r:id="rId25"/>
    <p:sldId id="356" r:id="rId26"/>
    <p:sldId id="357" r:id="rId27"/>
    <p:sldId id="34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  <Relationship Id="rId13" Type="http://schemas.openxmlformats.org/officeDocument/2006/relationships/slide" Target="slides/slide5.xml"/>
  <Relationship Id="rId14" Type="http://schemas.openxmlformats.org/officeDocument/2006/relationships/slide" Target="slides/slide6.xml"/>
  <Relationship Id="rId15" Type="http://schemas.openxmlformats.org/officeDocument/2006/relationships/slide" Target="slides/slide7.xml"/>
  <Relationship Id="rId16" Type="http://schemas.openxmlformats.org/officeDocument/2006/relationships/slide" Target="slides/slide8.xml"/>
  <Relationship Id="rId17" Type="http://schemas.openxmlformats.org/officeDocument/2006/relationships/slide" Target="slides/slide9.xml"/>
  <Relationship Id="rId18" Type="http://schemas.openxmlformats.org/officeDocument/2006/relationships/slide" Target="slides/slide10.xml"/>
  <Relationship Id="rId19" Type="http://schemas.openxmlformats.org/officeDocument/2006/relationships/slide" Target="slides/slide11.xml"/>
  <Relationship Id="rId20" Type="http://schemas.openxmlformats.org/officeDocument/2006/relationships/slide" Target="slides/slide12.xml"/>
  <Relationship Id="rId21" Type="http://schemas.openxmlformats.org/officeDocument/2006/relationships/slide" Target="slides/slide13.xml"/>
  <Relationship Id="rId22" Type="http://schemas.openxmlformats.org/officeDocument/2006/relationships/slide" Target="slides/slide14.xml"/>
  <Relationship Id="rId23" Type="http://schemas.openxmlformats.org/officeDocument/2006/relationships/slide" Target="slides/slide15.xml"/>
  <Relationship Id="rId24" Type="http://schemas.openxmlformats.org/officeDocument/2006/relationships/slide" Target="slides/slide16.xml"/>
  <Relationship Id="rId25" Type="http://schemas.openxmlformats.org/officeDocument/2006/relationships/slide" Target="slides/slide17.xml"/>
  <Relationship Id="rId26" Type="http://schemas.openxmlformats.org/officeDocument/2006/relationships/slide" Target="slides/slide18.xml"/>
  <Relationship Id="rId27" Type="http://schemas.openxmlformats.org/officeDocument/2006/relationships/slide" Target="slides/slide19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ES">
                <a:latin typeface="Century Gothic"/>
              </a:rPr>
              <a:t>FUNDAMENTOS PARA IA · NRC 94103</a:t>
            </a:r>
            <a:endParaRPr lang="es-ES"/>
          </a:p>
          <a:p>
            <a:pPr algn="r"/>
            <a:r>
              <a:rPr lang="es-ES">
                <a:latin typeface="Century Gothic"/>
              </a:rPr>
              <a:t>Semana 6 · Agosto 2026</a:t>
            </a:r>
            <a:endParaRPr lang="es-CO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400" b="1">
                <a:solidFill>
                  <a:srgbClr val="FFC000"/>
                </a:solidFill>
                <a:latin typeface="Century Gothic"/>
              </a:rPr>
              <a:t>PRUEBA DE HIPÓTESIS: DECIDIR CON EVIDENCIA</a:t>
            </a:r>
            <a:endParaRPr lang="es-CO" sz="4400" b="1" dirty="0">
              <a:solidFill>
                <a:srgbClr val="FFC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  <a:endParaRPr kumimoji="0" lang="es-CO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rdana"/>
              <a:ea typeface="+mj-ea"/>
              <a:cs typeface="+mj-cs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 rot="10800000" flipV="1">
            <a:off x="893090" y="1696711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Qué es una prueba de hipótesis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Significancia, p-value y proceso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Ejemplo: planteamiento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Hipótesis H0 y H1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Ejemplo: cálculo e interpretación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Errores comunes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¿Qué es una prueba de hipótesis?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Definición: </a:t>
            </a:r>
            <a:r>
              <a:rPr lang="es-CO" sz="1700" dirty="0"/>
              <a:t>un procedimiento para decidir, con datos, si algo que observamos es un efecto real o pura casualidad.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Analogía: </a:t>
            </a:r>
            <a:r>
              <a:rPr lang="es-CO" sz="1700" dirty="0"/>
              <a:t>es como decidir si la moneda de un amigo está “cargada” porque salió cara 7 de 10 veces, o si fue solo suerte.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¿el género del estudiante realmente influye en el puntaje de matemáticas, o la diferencia que vemos es azar muestral?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cuando quieres comparar grupos, validar si una intervención tuvo efecto, o decidir si una diferencia observada en tus datos es real 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i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ES" sz="2800" b="1" i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ES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ES" sz="16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ES" sz="4400" b="1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  <a:endParaRPr lang="es-CO" sz="44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Hipótesis nula (H0) y alternativa (H1)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nula (H0): </a:t>
            </a:r>
            <a:r>
              <a:rPr lang="es-CO" sz="1700" dirty="0"/>
              <a:t>la postura conservadora: “no pasa nada especial” — en notación formal, μ₁ = μ₂ (las medias son iguales).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alternativa (H1): </a:t>
            </a:r>
            <a:r>
              <a:rPr lang="es-CO" sz="1700" dirty="0"/>
              <a:t>la postura contraria: “sí hay diferencia” — en notación formal, μ₁ ≠ μ₂ (prueba de dos colas).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H0: μ(género A) = μ(género B) en math score. H1: μ(género A) ≠ μ(género B).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siempre que planteas una pregunta comparativa o de relación entre variables; es el primer paso de cualquier prueba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Significancia (α) y valor p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Nivel de significancia (α): </a:t>
            </a:r>
            <a:r>
              <a:rPr lang="es-CO" sz="1700" dirty="0"/>
              <a:t>el “umbral de sorpresa” que aceptamos de antemano. Convención habitual: α = 0.05 (5% de riesgo aceptado).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Valor p: </a:t>
            </a:r>
            <a:r>
              <a:rPr lang="es-CO" sz="1700" dirty="0"/>
              <a:t>la probabilidad de ver un resultado tan extremo como el tuyo, asumiendo que H0 es cierta. No es la probabilidad de que H0 sea verdadera.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Regla de decisión: </a:t>
            </a:r>
            <a:r>
              <a:rPr lang="es-CO" sz="1700" i="1" dirty="0"/>
              <a:t>p &lt; α → se rechaza H0 (evidencia significativa); p ≥ α → no se rechaza H0 (evidencia insuficiente).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interpretar el resultado de cualquier prueba estadística (t, ANOVA, correlación, chi-cuadrado, etc.) para decidir si rechazar H0.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planteamiento del problema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Dataset: </a:t>
            </a:r>
            <a:r>
              <a:rPr lang="es-CO" sz="1700" dirty="0"/>
              <a:t>StudentsPerformance.csv, 1000 estudiantes; variable dependiente = math score, independiente = gender.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¿existe una diferencia significativa en el puntaje de matemáticas entre hombres y mujeres?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Hipótesis: </a:t>
            </a:r>
            <a:r>
              <a:rPr lang="es-CO" sz="1700" i="1" dirty="0"/>
              <a:t>H0: μ(hombres) = μ(mujeres)   |   H1: μ(hombres) ≠ μ(mujeres)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iniciar cualquier análisis con datos reales: define la pregunta y las hipótesis antes de calcular nada.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cálculo de la prueba t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Muestra: </a:t>
            </a:r>
            <a:r>
              <a:rPr lang="es-CO" sz="1700" dirty="0"/>
              <a:t>n = 1000 (482 hombres, 518 mujeres). Promedio hombres = 68.73; promedio mujeres = 63.63.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Supuestos: </a:t>
            </a:r>
            <a:r>
              <a:rPr lang="es-CO" sz="1700" dirty="0"/>
              <a:t>Levene (varianzas) p = 0.556 → se cumple homogeneidad. Shapiro-Wilk sugiere no-normalidad, pero con n &gt; 480 por grupo la prueba t es robusta (Teorema del Límite Central).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Resultado: </a:t>
            </a:r>
            <a:r>
              <a:rPr lang="es-CO" sz="1700" i="1" dirty="0"/>
              <a:t>t = 5.38 (df = 998), p-value = 9.12×10⁻⁸. Verificación con Mann-Whitney U: p = 4.28×10⁻⁷ (misma conclusión).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 la prueba t?: </a:t>
            </a:r>
            <a:r>
              <a:rPr lang="es-CO" sz="1700" dirty="0"/>
              <a:t>para comparar el promedio de una variable numérica entre exactamente 2 grupos independientes. Con 3+ grupos: ANOVA; con datos pareados: t pareada; con variables categóricas: chi-cuadrado.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interpretación del resultado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Decisión: </a:t>
            </a:r>
            <a:r>
              <a:rPr lang="es-CO" sz="1700" dirty="0"/>
              <a:t>el p-value (0.00000009) es muchísimo menor que α (0.05) → se rechaza H0.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En palabras simples: </a:t>
            </a:r>
            <a:r>
              <a:rPr lang="es-CO" sz="1700" dirty="0"/>
              <a:t>hay evidencia muy fuerte de que el puntaje promedio de matemáticas difiere entre hombres y mujeres (~5 puntos de diferencia).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Cuidado: </a:t>
            </a:r>
            <a:r>
              <a:rPr lang="es-CO" sz="1700" i="1" dirty="0"/>
              <a:t>es una asociación observada, no una prueba de que el género cause la diferencia; podría haber otros factores de fondo.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comunicar resultados en un informe, portafolio o presentación, para traducir el número en una conclusión clara.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Errores comunes al interpretar resultados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“No significativo” ≠ “no hay diferencia”: </a:t>
            </a:r>
            <a:r>
              <a:rPr lang="es-CO" sz="1700" dirty="0"/>
              <a:t>un p-value alto solo dice que falta evidencia, no que H0 sea verdadera.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 pequeño ≠ efecto grande: </a:t>
            </a:r>
            <a:r>
              <a:rPr lang="es-CO" sz="1700" dirty="0"/>
              <a:t>con muestras grandes, hasta diferencias mínimas producen un p-value diminuto.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Asociación ≠ causalidad: </a:t>
            </a:r>
            <a:r>
              <a:rPr lang="es-CO" sz="1700" dirty="0"/>
              <a:t>rechazar H0 en datos observacionales no prueba que una variable cause la otra; podría haber variables de confusión.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“Pescar” resultados (p-hacking): </a:t>
            </a:r>
            <a:r>
              <a:rPr lang="es-CO" sz="1700" i="1" dirty="0"/>
              <a:t>probar muchas combinaciones hasta encontrar p &lt; 0.05 y reportar solo esa es engañoso: con suficientes intentos, algo “dará significativo” por puro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Proceso paso a paso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Pasos 1-3 — Plantear: </a:t>
            </a:r>
            <a:r>
              <a:rPr lang="es-CO" sz="1700" dirty="0"/>
              <a:t>define la pregunta, H0 y H1, identifica la variable dependiente/independiente, y describe la muestra (tamaño, medias, desviaciones).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Pasos 4-5 — Calcular: </a:t>
            </a:r>
            <a:r>
              <a:rPr lang="es-CO" sz="1700" dirty="0"/>
              <a:t>valida los supuestos (Shapiro-Wilk, Levene) para elegir la prueba correcta, y aplícala para obtener el estadístico y el p-value.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Pasos 6-7 — Concluir: </a:t>
            </a:r>
            <a:r>
              <a:rPr lang="es-CO" sz="1700" i="1" dirty="0"/>
              <a:t>compara el p-value con α para decidir sobre H0, y traduce el resultado a lenguaje natural conectado con la pregunta original.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en cualquier prueba de hipótesis, sin importar las variables: este orden de 7 pasos es siempre el mismo.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¿es candidata para una prueba de hipótesis?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A: </a:t>
            </a:r>
            <a:r>
              <a:rPr lang="es-CO" sz="1700" dirty="0"/>
              <a:t>comparar el promedio de math score entre hombres y mujeres, para saber si la diferencia se sostiene en toda la población.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B: </a:t>
            </a:r>
            <a:r>
              <a:rPr lang="es-CO" sz="1700" dirty="0"/>
              <a:t>solo reportar cuántos estudiantes hay en cada grupo de lunch (standard vs. free/reduced).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A sí es candidata (hay comparación + generalización); B no lo es (es pura descripción/conteo).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distinguir describir de inferir es el primer paso para saber si necesitas una prueba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formular H0 y H1 con más de 2 grupos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quieres saber si el nivel educativo de los padres (6 categorías) se relaciona con el puntaje de matemáticas.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escribe H0 y H1. ¿Por qué H0 no puede ser simplemente “las medias son diferentes”?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H0: las 6 medias son iguales. H1: al menos una difiere (dato real: p = 5.59×10⁻⁶, se rechaza H0).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“al menos una difiere” no es lo mismo que “todas son distintas entre sí”.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interpretar un p-value dado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aplicaste una prueba y obtuviste p-value = 0.023, con α = 0.05.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¿rechazas H0? ¿Qué error cometerías si dijeras “hay 2.3% de probabilidad de que H0 sea verdadera”?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se rechaza H0 (0.023 &lt; 0.05); el error es confundir P(datos|H0) con P(H0|datos) — no son lo mismo.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el p-value nunca es “la probabilidad de que H0 sea cierta”.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elegir la prueba a partir de los supuestos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(hipotética): </a:t>
            </a:r>
            <a:r>
              <a:rPr lang="es-CO" sz="1700" dirty="0"/>
              <a:t>Shapiro-Wilk grupo A p = 0.002, grupo B p = 0.41; Levene p = 0.03.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¿se cumple la normalidad? ¿La homogeneidad de varianzas? ¿Qué prueba usarías?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ninguna se cumple del todo → Mann-Whitney U; o t de Welch si se prefiere una paramétrica.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el paso 4 (validar supuestos) determina qué herramienta usar en el paso 5.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aplica los pasos 6 y 7 con datos ya calculados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writing score según lunch: standard (n=645, media=70.82) vs. free/reduced (n=355, media=63.02); Levene p=0.105; t=8.01, p=3.19×10⁻¹⁵.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¿se rechaza H0? Redacta la interpretación conectada con la pregunta original.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se rechaza H0; el almuerzo standard se asocia con ≈7.8 puntos más en escritura (asociación, no causalidad).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aplicar el mismo proceso a datos nuevos es la mejor forma de afianzarlo.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detectar el error en una interpretación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“Obtuve un p-value de 0.001, así que estoy 99.9% seguro de que el curso causa la mejora en la nota.”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identifica dos errores distintos en esta afirmación.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1) el p-value no es una “certeza” de H1; 2) datos observacionales no prueban causalidad.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son los dos errores más comunes al comunicar resultados estadísticos.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significancia estadística vs. tamaño del efecto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Estudio A: </a:t>
            </a:r>
            <a:r>
              <a:rPr lang="es-CO" sz="1700" dirty="0"/>
              <a:t>n=30 por grupo, diferencia de medias=8 puntos, p=0.09.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Estudio B: </a:t>
            </a:r>
            <a:r>
              <a:rPr lang="es-CO" sz="1700" dirty="0"/>
              <a:t>n=5000 por grupo, diferencia de medias=0.3 puntos, p=0.001.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solo B rechaza H0, pero la diferencia de A (8 puntos) es probablemente más relevante en la práctica.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una muestra enorme puede volver “significativo” un efecto diminuto e irrelevante.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Ejercicio: errores tipo I y II en un caso médico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un hospital evalúa un tratamiento nuevo para la presión arterial. H0: no reduce más que el estándar.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¿qué significaría un error tipo I aquí? ¿Y un error tipo II?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tipo I: adoptar un tratamiento que no funciona; tipo II: descartar uno que sí funciona.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en decisiones médicas, ambos errores tienen consecuencias reales para los pacientes.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</Words>
  <Application>Microsoft Office PowerPoint</Application>
  <PresentationFormat>Panorámica</PresentationFormat>
  <Paragraphs>23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Tema de Office</vt:lpstr>
      <vt:lpstr>Office Theme</vt:lpstr>
      <vt:lpstr>CLASE 1. TEORÍAS Y SISTEMAS ECONÓMICOS GLOBALES</vt:lpstr>
      <vt:lpstr>Presentación de PowerPoint</vt:lpstr>
      <vt:lpstr>XXXXXX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FABIAN ANDRES BEDOYA QUIROGA</cp:lastModifiedBy>
  <cp:revision>43</cp:revision>
  <dcterms:created xsi:type="dcterms:W3CDTF">2024-01-22T15:06:30Z</dcterms:created>
  <dcterms:modified xsi:type="dcterms:W3CDTF">2026-07-06T22:01:10Z</dcterms:modified>
</cp:coreProperties>
</file>