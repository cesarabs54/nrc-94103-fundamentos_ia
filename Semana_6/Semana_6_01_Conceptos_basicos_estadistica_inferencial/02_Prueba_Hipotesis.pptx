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7"/>
  </p:notesMasterIdLst>
  <p:sldIdLst>
    <p:sldId id="341" r:id="rId3"/>
    <p:sldId id="342" r:id="rId4"/>
    <p:sldId id="333" r:id="rId5"/>
    <p:sldId id="343" r:id="rId13"/>
    <p:sldId id="344" r:id="rId14"/>
    <p:sldId id="345" r:id="rId15"/>
    <p:sldId id="346" r:id="rId16"/>
    <p:sldId id="347" r:id="rId17"/>
    <p:sldId id="348" r:id="rId18"/>
    <p:sldId id="34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52C1F-6D6C-3ED2-B73E-A3EBECB4A953}" v="76" dt="2026-07-02T04:55:40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  <Relationship Id="rId13" Type="http://schemas.openxmlformats.org/officeDocument/2006/relationships/slide" Target="slides/slide5.xml"/>
  <Relationship Id="rId14" Type="http://schemas.openxmlformats.org/officeDocument/2006/relationships/slide" Target="slides/slide6.xml"/>
  <Relationship Id="rId15" Type="http://schemas.openxmlformats.org/officeDocument/2006/relationships/slide" Target="slides/slide7.xml"/>
  <Relationship Id="rId16" Type="http://schemas.openxmlformats.org/officeDocument/2006/relationships/slide" Target="slides/slide8.xml"/>
  <Relationship Id="rId17" Type="http://schemas.openxmlformats.org/officeDocument/2006/relationships/slide" Target="slides/slide9.xml"/>
  <Relationship Id="rId18" Type="http://schemas.openxmlformats.org/officeDocument/2006/relationships/slide" Target="slides/slide10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1F3BA-561E-40F8-BA69-B9204D365301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27F4A-87DB-494C-94B7-1D15149278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469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4D-178A-465A-B01D-00AE0C2E304C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0552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BA8A-E1D6-8CF5-4EB8-ABC9A4AA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35C38-A943-3D17-0E8A-AEA8D5894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3FEF9-3730-016D-9CDE-3B1B6E19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FEEA2-2345-6EB2-BCE8-A1B818E8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0EA5-9047-2BBC-B0D6-50A93267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9068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DDAD-4B9A-3ACC-563D-3C1631C36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317E-A275-EB9C-BB7C-00FA79754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D0F10-D002-7E04-82A2-50D8E20A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2353-4F01-1FD0-B4A7-09B150A9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4038-1BBC-367C-A8E8-D8CC6566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5404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70FD-4026-6E72-1D41-6EFB01B03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3CADB-F992-A9C2-D7BB-A1E61939D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9CFC6-2EAB-BADC-175E-06FDE668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8583F-18A4-2FBF-47EB-846F783B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02BF-9DEF-F8E6-50C2-2BB84E18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3323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9EC1-C52E-37AE-54FE-02C1046C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A8148-5BB6-28C8-5D95-C62BAB732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A9FB9-DB1F-A4BD-DD43-9D4632829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95F19-236F-77B1-8F6A-1F49E2F9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90E32-036C-010C-53B3-8F808C24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1C1AC-E0AD-FEC5-B73C-7E3096A6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2307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A49-3836-B9B0-5A83-DBAD5547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6270B-8F5D-B778-A0A8-DE255CCB5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B8625-B67B-1C49-DB51-283224357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BF7BE-8B07-F480-6FB1-C0377B861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46F55-A237-1A8D-9BD9-2267FB26A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6DA49-6ACD-AC40-ADD7-3B1E0D27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965F3-8D95-9871-4485-EAE28050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C1580-32B4-42A0-51B6-1D68128E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9628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A983-83B7-3944-D04E-52A95EF0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EB081A-5123-25FF-9F69-5C4E9502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47B4B-5D28-166D-A374-84556A58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71D76-47B3-311A-EE8A-9259F4ED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61791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9E274-1368-F3DD-1507-43DB4412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BD5B2-1814-55AD-CB11-F108A311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3FC48-3DB3-7045-07A2-27A31271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5335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DD91-9253-E181-7E12-C4A7AE32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BEBC-EF06-3BDA-0030-EC53CEFE0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058DF-73E2-3986-019C-050390D67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7FEDC-715B-59D2-9039-78D10E88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371A-4502-3350-D34E-E61E7E86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CF89-3CFC-8E9D-37B0-246D1BB0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92948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01F4-9DCC-00EE-35F4-83E797CEB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A782E-F114-3F04-3674-2AD88FE12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01783-55EE-4F23-5519-1CF7F5C8F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FE1FD-C55C-C36E-EB75-CF0C96AA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C4F85-E388-EE6A-1B35-7E6E94E7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E053E-DDCD-9FDC-C558-F07F86DB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1122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787-5B44-1E1E-C98E-17A43385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BE95D-8B60-9DC1-5701-BF5437A6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87189-1220-7EF5-7467-74E03D5E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163B6-94DD-1E0D-6C9E-69E2399E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2C061-8EC4-0C82-35F6-FB9C4BA3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5840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861572-E9BE-9B75-33EF-D4B71EA0A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5A8AB-F7E6-408B-EFB2-A16DB332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4DF7-F334-D689-3F9A-C6C03560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5E46-8723-51E6-A678-AC81583B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A62E8-7C27-3FAE-A4BF-11960589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250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08DFF-3046-6ABB-BDE2-37A69F1A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D301-E944-EF85-1B1F-56F83B3E5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C0A0-D3C7-157B-2681-77207473F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2C750-38DF-F531-0238-A869F7338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002E-F8BD-2A7C-5F20-DC97119BD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133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A636AB6E-D708-FC46-3E1B-AD35787DC531}"/>
              </a:ext>
            </a:extLst>
          </p:cNvPr>
          <p:cNvSpPr/>
          <p:nvPr/>
        </p:nvSpPr>
        <p:spPr>
          <a:xfrm>
            <a:off x="0" y="0"/>
            <a:ext cx="12192000" cy="6893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EBE24467-A941-3231-8A3E-21FD4EFF5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932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B023E5-08B0-2427-9715-09205CDB1D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582" t="36088" r="1507" b="26199"/>
          <a:stretch/>
        </p:blipFill>
        <p:spPr>
          <a:xfrm>
            <a:off x="10060726" y="5395594"/>
            <a:ext cx="1806809" cy="13230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378A125-782B-9B4C-F519-EACF80EA5374}"/>
              </a:ext>
            </a:extLst>
          </p:cNvPr>
          <p:cNvSpPr txBox="1"/>
          <p:nvPr/>
        </p:nvSpPr>
        <p:spPr>
          <a:xfrm>
            <a:off x="4375678" y="5937607"/>
            <a:ext cx="560085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s-ES">
                <a:latin typeface="Century Gothic"/>
              </a:rPr>
              <a:t>FUNDAMENTOS PARA IA · NRC 94103</a:t>
            </a:r>
            <a:endParaRPr lang="es-ES"/>
          </a:p>
          <a:p>
            <a:pPr algn="r"/>
            <a:r>
              <a:rPr lang="es-ES">
                <a:latin typeface="Century Gothic"/>
              </a:rPr>
              <a:t>Semana 6 · Agosto 2026</a:t>
            </a:r>
            <a:endParaRPr lang="es-CO">
              <a:latin typeface="Century Gothic" panose="020B0502020202020204" pitchFamily="34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5595C607-E050-1D31-A7F0-5C432315B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043" t="-3087" r="-3874" b="-2265"/>
          <a:stretch/>
        </p:blipFill>
        <p:spPr bwMode="auto">
          <a:xfrm rot="254132">
            <a:off x="1482100" y="1817745"/>
            <a:ext cx="3372018" cy="2165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2942E92C-F850-AC01-A952-6D862E39B8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533" y="274062"/>
            <a:ext cx="3782002" cy="123679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5B1B1DD-C336-11D0-3F79-3F350C0F3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5294" y="2825567"/>
            <a:ext cx="8120478" cy="1797326"/>
          </a:xfrm>
        </p:spPr>
        <p:txBody>
          <a:bodyPr>
            <a:normAutofit/>
          </a:bodyPr>
          <a:lstStyle/>
          <a:p>
            <a:r>
              <a:rPr lang="es-CO" sz="4400" b="1">
                <a:solidFill>
                  <a:srgbClr val="FFC000"/>
                </a:solidFill>
                <a:latin typeface="Century Gothic"/>
              </a:rPr>
              <a:t>PRUEBA DE HIPÓTESIS: DECIDIR CON EVIDENCIA</a:t>
            </a:r>
            <a:endParaRPr lang="es-CO" sz="4400" b="1" dirty="0">
              <a:solidFill>
                <a:srgbClr val="FFC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9553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F0E97F75-4E8D-4225-ACDC-192F32266A97}"/>
              </a:ext>
            </a:extLst>
          </p:cNvPr>
          <p:cNvSpPr txBox="1">
            <a:spLocks/>
          </p:cNvSpPr>
          <p:nvPr/>
        </p:nvSpPr>
        <p:spPr>
          <a:xfrm>
            <a:off x="622716" y="139272"/>
            <a:ext cx="5913201" cy="5548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rdana"/>
                <a:ea typeface="+mj-ea"/>
                <a:cs typeface="+mj-cs"/>
              </a:rPr>
              <a:t>Tabla de Contenido</a:t>
            </a:r>
            <a:endParaRPr kumimoji="0" lang="es-CO" sz="3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rdana"/>
              <a:ea typeface="+mj-ea"/>
              <a:cs typeface="+mj-cs"/>
            </a:endParaRP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4AB2D2AB-799F-44C6-A8C2-F98B1C7C105E}"/>
              </a:ext>
            </a:extLst>
          </p:cNvPr>
          <p:cNvSpPr txBox="1"/>
          <p:nvPr/>
        </p:nvSpPr>
        <p:spPr>
          <a:xfrm>
            <a:off x="164505" y="1532450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01.</a:t>
            </a: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6DE6E35C-B117-43DD-A072-693CA0C8506F}"/>
              </a:ext>
            </a:extLst>
          </p:cNvPr>
          <p:cNvSpPr txBox="1"/>
          <p:nvPr/>
        </p:nvSpPr>
        <p:spPr>
          <a:xfrm>
            <a:off x="164505" y="3132567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02.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95FB1313-D0FA-4E96-B4A3-DD20E1991AC4}"/>
              </a:ext>
            </a:extLst>
          </p:cNvPr>
          <p:cNvSpPr txBox="1"/>
          <p:nvPr/>
        </p:nvSpPr>
        <p:spPr>
          <a:xfrm rot="10800000" flipV="1">
            <a:off x="893090" y="1696711"/>
            <a:ext cx="448429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Qué es una prueba de hipótesis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B0BE0913-DB4C-4916-9947-1697026CE0B3}"/>
              </a:ext>
            </a:extLst>
          </p:cNvPr>
          <p:cNvSpPr txBox="1"/>
          <p:nvPr/>
        </p:nvSpPr>
        <p:spPr>
          <a:xfrm>
            <a:off x="239764" y="4644334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03.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280CAB23-A6AD-465B-A138-12C209352194}"/>
              </a:ext>
            </a:extLst>
          </p:cNvPr>
          <p:cNvSpPr txBox="1"/>
          <p:nvPr/>
        </p:nvSpPr>
        <p:spPr>
          <a:xfrm>
            <a:off x="5413195" y="31072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05.</a:t>
            </a: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A4090016-0F69-433E-8CC4-F84AD53DBE15}"/>
              </a:ext>
            </a:extLst>
          </p:cNvPr>
          <p:cNvSpPr txBox="1"/>
          <p:nvPr/>
        </p:nvSpPr>
        <p:spPr>
          <a:xfrm>
            <a:off x="1093029" y="4792737"/>
            <a:ext cx="4484296" cy="32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Significancia y p-value</a:t>
            </a: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6E8B458C-996C-4092-94D5-2AB68B70AD7F}"/>
              </a:ext>
            </a:extLst>
          </p:cNvPr>
          <p:cNvSpPr txBox="1"/>
          <p:nvPr/>
        </p:nvSpPr>
        <p:spPr>
          <a:xfrm>
            <a:off x="6241489" y="1573935"/>
            <a:ext cx="4484296" cy="32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Ejemplo: planteamiento y cálculo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C46DB1DF-06BF-4441-8C15-62E87A62DE40}"/>
              </a:ext>
            </a:extLst>
          </p:cNvPr>
          <p:cNvSpPr txBox="1"/>
          <p:nvPr/>
        </p:nvSpPr>
        <p:spPr>
          <a:xfrm>
            <a:off x="996573" y="3116745"/>
            <a:ext cx="448429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Hipótesis H0 y H1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srgbClr val="737373"/>
              </a:solidFill>
              <a:effectLst/>
              <a:uLnTx/>
              <a:uFillTx/>
              <a:latin typeface="DM Sans Bold"/>
              <a:ea typeface="+mn-ea"/>
              <a:cs typeface="+mn-cs"/>
            </a:endParaRP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7CE022EF-58EB-42DD-AA75-5219C0440962}"/>
              </a:ext>
            </a:extLst>
          </p:cNvPr>
          <p:cNvSpPr txBox="1"/>
          <p:nvPr/>
        </p:nvSpPr>
        <p:spPr>
          <a:xfrm>
            <a:off x="6383859" y="3121556"/>
            <a:ext cx="496045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Calibri"/>
                <a:cs typeface="Calibri"/>
              </a:rPr>
              <a:t>Ejemplo: interpretación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F3A6312D-31F8-4D5C-8934-24A01ECA15C0}"/>
              </a:ext>
            </a:extLst>
          </p:cNvPr>
          <p:cNvSpPr txBox="1"/>
          <p:nvPr/>
        </p:nvSpPr>
        <p:spPr>
          <a:xfrm>
            <a:off x="5413728" y="1540473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04.</a:t>
            </a: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80A445F9-F3F3-4363-A875-A1E852063013}"/>
              </a:ext>
            </a:extLst>
          </p:cNvPr>
          <p:cNvSpPr txBox="1"/>
          <p:nvPr/>
        </p:nvSpPr>
        <p:spPr>
          <a:xfrm>
            <a:off x="5485614" y="46383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06.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0F79177-F72B-A56A-B375-1ABE30756E86}"/>
              </a:ext>
            </a:extLst>
          </p:cNvPr>
          <p:cNvSpPr txBox="1"/>
          <p:nvPr/>
        </p:nvSpPr>
        <p:spPr>
          <a:xfrm>
            <a:off x="6380104" y="4602103"/>
            <a:ext cx="3928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Errores comunes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20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¿Qué es una prueba de hipótesis?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Definición: </a:t>
            </a:r>
            <a:r>
              <a:rPr lang="es-CO" sz="1700" dirty="0"/>
              <a:t>un procedimiento para decidir, con datos, si algo que observamos es un efecto real o pura casualidad.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Analogía: </a:t>
            </a:r>
            <a:r>
              <a:rPr lang="es-CO" sz="1700" dirty="0"/>
              <a:t>es como decidir si la moneda de un amigo está “cargada” porque salió cara 7 de 10 veces, o si fue solo suerte.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Ejemplo: </a:t>
            </a:r>
            <a:r>
              <a:rPr lang="es-CO" sz="1700" i="1" dirty="0"/>
              <a:t>¿el género del estudiante realmente influye en el puntaje de matemáticas, o la diferencia que vemos es azar muestral?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cuando quieres comparar grupos, validar si una intervención tuvo efecto, o decidir si una diferencia observada en tus datos es real o azar.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FB09-AAE8-62F0-3A62-E003F41D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FFB1F00-BE97-BE98-7D23-907738D05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7" y="1895"/>
            <a:ext cx="12192000" cy="6858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CF2E2F08-52A4-C49F-8F6A-FFD7963C46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3493" y="352325"/>
            <a:ext cx="4193066" cy="126180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D4F57740-2D4F-3CF9-5FAE-C46DADEBE4AF}"/>
              </a:ext>
            </a:extLst>
          </p:cNvPr>
          <p:cNvSpPr txBox="1"/>
          <p:nvPr/>
        </p:nvSpPr>
        <p:spPr>
          <a:xfrm>
            <a:off x="423578" y="4402909"/>
            <a:ext cx="11016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i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www.uniminuto.edu</a:t>
            </a:r>
            <a:r>
              <a:rPr lang="es-ES" sz="2800" b="1" i="0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/uniminuto-virtual</a:t>
            </a:r>
            <a:endParaRPr lang="es-CO" sz="2800" b="1">
              <a:solidFill>
                <a:srgbClr val="FEBE05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906353-C08E-4548-090D-A1EBFD47B7BF}"/>
              </a:ext>
            </a:extLst>
          </p:cNvPr>
          <p:cNvSpPr txBox="1"/>
          <p:nvPr/>
        </p:nvSpPr>
        <p:spPr>
          <a:xfrm>
            <a:off x="3535712" y="1938579"/>
            <a:ext cx="5784486" cy="12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CO" sz="8000" b="1" kern="1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GRACIAS</a:t>
            </a: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0A3E55B8-D253-DBAD-1101-11B3FFFC1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043" t="-3087" r="-3874" b="-2265"/>
          <a:stretch/>
        </p:blipFill>
        <p:spPr bwMode="auto">
          <a:xfrm rot="254132">
            <a:off x="1873003" y="1932882"/>
            <a:ext cx="2224970" cy="121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492E92B6-11F2-A11D-1E16-791654733331}"/>
              </a:ext>
            </a:extLst>
          </p:cNvPr>
          <p:cNvSpPr/>
          <p:nvPr/>
        </p:nvSpPr>
        <p:spPr>
          <a:xfrm>
            <a:off x="160357" y="921392"/>
            <a:ext cx="7401413" cy="122575"/>
          </a:xfrm>
          <a:prstGeom prst="rect">
            <a:avLst/>
          </a:prstGeom>
          <a:solidFill>
            <a:srgbClr val="FEB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DB3FEE3-64D0-772A-0A61-D11F12ECF337}"/>
              </a:ext>
            </a:extLst>
          </p:cNvPr>
          <p:cNvSpPr txBox="1"/>
          <p:nvPr/>
        </p:nvSpPr>
        <p:spPr>
          <a:xfrm>
            <a:off x="2985950" y="3172713"/>
            <a:ext cx="6142437" cy="11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es-ES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</a:t>
            </a:r>
            <a:r>
              <a:rPr lang="es-ES" sz="16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Educamos sin fronteras transformándonos para el futuro con </a:t>
            </a:r>
          </a:p>
          <a:p>
            <a:pPr>
              <a:lnSpc>
                <a:spcPts val="4000"/>
              </a:lnSpc>
            </a:pPr>
            <a:r>
              <a:rPr lang="es-ES" sz="4400" b="1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 CALIDAD Y CALIDEZ</a:t>
            </a:r>
            <a:endParaRPr lang="es-CO" sz="4400" b="1">
              <a:solidFill>
                <a:srgbClr val="FEBE05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B92EF03-AA5F-BDC6-8DD7-15962ED54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4883" y="5628381"/>
            <a:ext cx="1427032" cy="78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779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Hipótesis nula (H0) y alternativa (H1)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Hipótesis nula (H0): </a:t>
            </a:r>
            <a:r>
              <a:rPr lang="es-CO" sz="1700" dirty="0"/>
              <a:t>la postura conservadora: “no pasa nada especial, todo es igual”. Se asume cierta hasta tener evidencia fuerte en contra.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Hipótesis alternativa (H1): </a:t>
            </a:r>
            <a:r>
              <a:rPr lang="es-CO" sz="1700" dirty="0"/>
              <a:t>la postura contraria: “sí pasa algo, sí hay diferencia real”.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Ejemplo: </a:t>
            </a:r>
            <a:r>
              <a:rPr lang="es-CO" sz="1700" i="1" dirty="0"/>
              <a:t>H0: el género no influye en el puntaje de matemáticas. H1: el género sí influye.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siempre que planteas una pregunta comparativa o de relación entre variables; es el primer paso de cualquier prueba de hipótesis.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Significancia (α) y valor p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Nivel de significancia (α): </a:t>
            </a:r>
            <a:r>
              <a:rPr lang="es-CO" sz="1700" dirty="0"/>
              <a:t>el “umbral de sorpresa” que aceptamos de antemano. Convención habitual: α = 0.05 (5% de riesgo aceptado).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Valor p: </a:t>
            </a:r>
            <a:r>
              <a:rPr lang="es-CO" sz="1700" dirty="0"/>
              <a:t>la probabilidad de ver un resultado tan extremo como el tuyo, si H0 fuera cierta. Si p &lt; α, el resultado es “demasiado raro” para ser azar.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Regla de decisión: </a:t>
            </a:r>
            <a:r>
              <a:rPr lang="es-CO" sz="1700" i="1" dirty="0"/>
              <a:t>p &lt; 0.05 → se rechaza H0; p ≥ 0.05 → no se rechaza H0.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al interpretar el resultado de cualquier prueba estadística (t, ANOVA, correlación, chi-cuadrado, etc.) para decidir si rechazar H0.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Ejemplo: planteamiento del problema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Dataset: </a:t>
            </a:r>
            <a:r>
              <a:rPr lang="es-CO" sz="1700" dirty="0"/>
              <a:t>StudentsPerformance.csv, 1000 estudiantes; variable dependiente = math score, independiente = gender.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¿existe una diferencia significativa en el puntaje de matemáticas entre hombres y mujeres?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Hipótesis: </a:t>
            </a:r>
            <a:r>
              <a:rPr lang="es-CO" sz="1700" i="1" dirty="0"/>
              <a:t>H0: μ(hombres) = μ(mujeres)   |   H1: μ(hombres) ≠ μ(mujeres)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al iniciar cualquier análisis con datos reales: define la pregunta y las hipótesis antes de calcular nada.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Ejemplo: cálculo de la prueba t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Muestra: </a:t>
            </a:r>
            <a:r>
              <a:rPr lang="es-CO" sz="1700" dirty="0"/>
              <a:t>n = 1000 (482 hombres, 518 mujeres). Promedio hombres = 68.73; promedio mujeres = 63.63.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Supuestos: </a:t>
            </a:r>
            <a:r>
              <a:rPr lang="es-CO" sz="1700" dirty="0"/>
              <a:t>Levene (varianzas) p = 0.556 → se cumple homogeneidad. Shapiro-Wilk sugiere no-normalidad, pero con n &gt; 480 por grupo la prueba t es robusta (Teorema del Límite Central).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Resultado: </a:t>
            </a:r>
            <a:r>
              <a:rPr lang="es-CO" sz="1700" i="1" dirty="0"/>
              <a:t>t = 5.38 (df = 998), p-value = 9.12×10⁻⁸. Verificación con Mann-Whitney U: p = 4.28×10⁻⁷ (misma conclusión).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 la prueba t?: </a:t>
            </a:r>
            <a:r>
              <a:rPr lang="es-CO" sz="1700" dirty="0"/>
              <a:t>para comparar el promedio de una variable numérica entre exactamente 2 grupos independientes. Con 3+ grupos: ANOVA; con datos pareados: t pareada; con variables categóricas: chi-cuadrado.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Ejemplo: interpretación del resultado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Decisión: </a:t>
            </a:r>
            <a:r>
              <a:rPr lang="es-CO" sz="1700" dirty="0"/>
              <a:t>el p-value (0.00000009) es muchísimo menor que α (0.05) → se rechaza H0.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En palabras simples: </a:t>
            </a:r>
            <a:r>
              <a:rPr lang="es-CO" sz="1700" dirty="0"/>
              <a:t>hay evidencia muy fuerte de que el puntaje promedio de matemáticas difiere entre hombres y mujeres (~5 puntos de diferencia).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Cuidado: </a:t>
            </a:r>
            <a:r>
              <a:rPr lang="es-CO" sz="1700" i="1" dirty="0"/>
              <a:t>es una asociación observada, no una prueba de que el género cause la diferencia; podría haber otros factores de fondo.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al comunicar resultados en un informe, portafolio o presentación, para traducir el número en una conclusión clara.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Errores comunes al interpretar resultados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“No significativo” ≠ “no hay diferencia”: </a:t>
            </a:r>
            <a:r>
              <a:rPr lang="es-CO" sz="1700" dirty="0"/>
              <a:t>un p-value alto solo dice que falta evidencia, no que H0 sea verdadera.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 pequeño ≠ efecto grande: </a:t>
            </a:r>
            <a:r>
              <a:rPr lang="es-CO" sz="1700" dirty="0"/>
              <a:t>con muestras muy grandes, hasta diferencias mínimas pueden dar un p-value diminuto.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Asociación ≠ causalidad: </a:t>
            </a:r>
            <a:r>
              <a:rPr lang="es-CO" sz="1700" i="1" dirty="0"/>
              <a:t>encontrar una diferencia significativa no prueba que una variable cause la otra; “pescar” resultados hasta que algo dé p &lt; 0.05 es una trampa estadística.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aplican estas alertas?: </a:t>
            </a:r>
            <a:r>
              <a:rPr lang="es-CO" sz="1700" dirty="0"/>
              <a:t>siempre que reportes o leas resultados de pruebas estadísticas, sobre todo bajo presión por encontrar hallazgos “significativos”.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</Words>
  <Application>Microsoft Office PowerPoint</Application>
  <PresentationFormat>Panorámica</PresentationFormat>
  <Paragraphs>23</Paragraphs>
  <Slides>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Tema de Office</vt:lpstr>
      <vt:lpstr>Office Theme</vt:lpstr>
      <vt:lpstr>CLASE 1. TEORÍAS Y SISTEMAS ECONÓMICOS GLOBALES</vt:lpstr>
      <vt:lpstr>Presentación de PowerPoint</vt:lpstr>
      <vt:lpstr>XXXXXX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FABIAN ANDRES BEDOYA QUIROGA</cp:lastModifiedBy>
  <cp:revision>43</cp:revision>
  <dcterms:created xsi:type="dcterms:W3CDTF">2024-01-22T15:06:30Z</dcterms:created>
  <dcterms:modified xsi:type="dcterms:W3CDTF">2026-07-06T22:01:10Z</dcterms:modified>
</cp:coreProperties>
</file>