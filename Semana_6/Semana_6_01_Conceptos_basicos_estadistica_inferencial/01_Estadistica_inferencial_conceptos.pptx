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2"/>
  </p:notesMasterIdLst>
  <p:sldIdLst>
    <p:sldId id="341" r:id="rId3"/>
    <p:sldId id="342" r:id="rId4"/>
    <p:sldId id="333" r:id="rId5"/>
    <p:sldId id="348" r:id="rId18"/>
    <p:sldId id="343" r:id="rId6"/>
    <p:sldId id="349" r:id="rId19"/>
    <p:sldId id="344" r:id="rId7"/>
    <p:sldId id="350" r:id="rId20"/>
    <p:sldId id="345" r:id="rId8"/>
    <p:sldId id="351" r:id="rId21"/>
    <p:sldId id="346" r:id="rId9"/>
    <p:sldId id="352" r:id="rId22"/>
    <p:sldId id="347" r:id="rId10"/>
    <p:sldId id="353" r:id="rId23"/>
    <p:sldId id="340" r:id="rId1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C52C1F-6D6C-3ED2-B73E-A3EBECB4A953}" v="76" dt="2026-07-02T04:55:40.5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  <Relationship Id="rId18" Type="http://schemas.openxmlformats.org/officeDocument/2006/relationships/slide" Target="slides/slide10.xml"/>
  <Relationship Id="rId19" Type="http://schemas.openxmlformats.org/officeDocument/2006/relationships/slide" Target="slides/slide11.xml"/>
  <Relationship Id="rId20" Type="http://schemas.openxmlformats.org/officeDocument/2006/relationships/slide" Target="slides/slide12.xml"/>
  <Relationship Id="rId21" Type="http://schemas.openxmlformats.org/officeDocument/2006/relationships/slide" Target="slides/slide13.xml"/>
  <Relationship Id="rId22" Type="http://schemas.openxmlformats.org/officeDocument/2006/relationships/slide" Target="slides/slide14.xml"/>
  <Relationship Id="rId23" Type="http://schemas.openxmlformats.org/officeDocument/2006/relationships/slide" Target="slides/slide15.xml"/>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C1F3BA-561E-40F8-BA69-B9204D365301}" type="datetimeFigureOut">
              <a:rPr lang="es-CO" smtClean="0"/>
              <a:t>1/08/2026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127F4A-87DB-494C-94B7-1D15149278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64697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D114D-178A-465A-B01D-00AE0C2E304C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90552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E6465-9E2C-F7D1-1025-017C427D60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2FCAB6-F63E-EA0F-01F2-8E3E1C2B7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9D3401-411E-EE18-DCDF-19B6CD4F8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F1AF5F-7707-9BBB-28C2-ECB54EF25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A4DE97-7E1B-9F6C-1FEE-5248F8457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5221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438F18-1C0B-0749-058E-1B0E686BC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53D8DE-7C2E-BD97-A2AA-88F4EE1D1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41F956-2A51-B46A-6C84-292248ABC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87A6C4-FA66-E3C7-C032-D85598F3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C0D02B-4304-EE2A-7E8C-0B375B0E7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8678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A2CDD2-34BE-1894-DA03-D37983212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CB16E9-FD19-12B7-D1BA-245A60284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C213C5-1FA3-FA2A-3678-2ADA22CC3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5E7D18-5809-0535-9B55-586792331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40B6F2-CB20-8B3A-9673-FAA2CDC1D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739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0887D-BAD9-E85D-38D1-19C82452D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A55F1D-7973-0849-FAC7-2ED08D995C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1175A7-F5D8-ADBE-35ED-2EA07ECAC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5B74CC-3C64-9425-489C-24DB5B492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49404E-8840-6F19-6ECE-CBDEE7D3B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467B64-DB77-85DF-90EC-68DC705D5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1511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812DA-5830-C2DA-FEC4-9F93505A5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C15237-094B-515A-A77F-0F30C24DE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199354-1A5B-0CF0-3712-B0B77DEA3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6B310BE-BFEF-A116-C85B-AC716031C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A1E757-3A71-28BB-8A9E-ECEA14D187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BF01BB1-AD86-2BA0-55E8-8951173D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1/08/2026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514BB14-7FDE-B22B-DBE5-F68508CF3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4445680-3080-CA10-7F3C-A949E505D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7763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09DD37-5352-2F73-3A29-4538B3E97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B8BDF24-B2D4-B274-E41E-B863DADA0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DFFC90A-39FD-B1DE-A6E9-4C076C92E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9F9A598-81CC-A97C-4ED5-351CC2B2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857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8D21982-7EB1-D639-9FE6-2ED2E1E5B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1/08/2026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B4BA5B4-1ACB-A6E1-8153-F6017EC08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D3346AA-BB89-908E-34AC-B5C0BB4FD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656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E547-B4C9-54C6-166C-68F57B52C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05AAA1-ED18-5D90-54DF-27F28CDEB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AB449D-32A1-2028-FDD4-838932A96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4E5BA6E-6660-0920-EEC0-2CE2AA835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B30D8E-B087-EA02-03E2-521DFA491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C3B8D4-7896-270C-F6AB-532E0B8BE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5407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AE17D-485A-ECB9-B3CF-28BF2EEDC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86ACA8F-B1F8-B561-1D8A-F688DA253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CE67B78-E7A8-5297-69F2-9F2F3E2F5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2791531-116A-C123-A7D4-1AB359D94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162658-4EB8-E7B1-D7CD-832BF8532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D045AE-C0E6-8B3A-974C-D535A2813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3458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968E0A-C617-9494-7FAF-EE98EDB3E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F01092-4D79-7865-173C-3380705A5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B4A24B-2361-24B8-088C-8A82963BE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B4E638-2A05-64BB-86B6-F7A751FAA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6CA604-5EC2-B4B2-BCDA-A72C5B4B9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2893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28B9AF1-B843-BB83-C453-61FDF2F92C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F26157F-1794-7926-228C-B16FC0F97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04E3A9-CC90-9107-B985-908B92FF6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EB48AE-EC58-2E10-FC72-45F6A53E4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C0554D-9DB8-83AA-D250-A01E05DD5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9483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ABA8A-E1D6-8CF5-4EB8-ABC9A4AAA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C35C38-A943-3D17-0E8A-AEA8D5894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3FEF9-3730-016D-9CDE-3B1B6E193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1/08/2026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FEEA2-2345-6EB2-BCE8-A1B818E87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D0EA5-9047-2BBC-B0D6-50A93267D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690683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4DDAD-4B9A-3ACC-563D-3C1631C36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1317E-A275-EB9C-BB7C-00FA79754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D0F10-D002-7E04-82A2-50D8E20A6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1/08/2026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82353-4F01-1FD0-B4A7-09B150A91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E4038-1BBC-367C-A8E8-D8CC65662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65404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770FD-4026-6E72-1D41-6EFB01B03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3CADB-F992-A9C2-D7BB-A1E61939D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9CFC6-2EAB-BADC-175E-06FDE668E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1/08/2026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8583F-18A4-2FBF-47EB-846F783B8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F02BF-9DEF-F8E6-50C2-2BB84E189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533234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A9EC1-C52E-37AE-54FE-02C1046C8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A8148-5BB6-28C8-5D95-C62BAB7324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A9FB9-DB1F-A4BD-DD43-9D4632829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95F19-236F-77B1-8F6A-1F49E2F9E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1/08/2026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90E32-036C-010C-53B3-8F808C24D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21C1AC-E0AD-FEC5-B73C-7E3096A68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23070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AA49-3836-B9B0-5A83-DBAD55478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D6270B-8F5D-B778-A0A8-DE255CCB5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0B8625-B67B-1C49-DB51-283224357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8BF7BE-8B07-F480-6FB1-C0377B861F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046F55-A237-1A8D-9BD9-2267FB26A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D6DA49-6ACD-AC40-ADD7-3B1E0D271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1/08/2026</a:t>
            </a:fld>
            <a:endParaRPr lang="es-C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4965F3-8D95-9871-4485-EAE28050F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C1580-32B4-42A0-51B6-1D68128E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996283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CA983-83B7-3944-D04E-52A95EF0C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EB081A-5123-25FF-9F69-5C4E95023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1/08/2026</a:t>
            </a:fld>
            <a:endParaRPr lang="es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A47B4B-5D28-166D-A374-84556A58D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D71D76-47B3-311A-EE8A-9259F4ED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61791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79E274-1368-F3DD-1507-43DB44125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1/08/2026</a:t>
            </a:fld>
            <a:endParaRPr lang="es-C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3BD5B2-1814-55AD-CB11-F108A3117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3FC48-3DB3-7045-07A2-27A31271A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53357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4DD91-9253-E181-7E12-C4A7AE32A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7BEBC-EF06-3BDA-0030-EC53CEFE0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058DF-73E2-3986-019C-050390D67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7FEDC-715B-59D2-9039-78D10E88E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1/08/2026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0371A-4502-3350-D34E-E61E7E86A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CCF89-3CFC-8E9D-37B0-246D1BB07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992948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701F4-9DCC-00EE-35F4-83E797CEB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4A782E-F114-3F04-3674-2AD88FE121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01783-55EE-4F23-5519-1CF7F5C8F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8FE1FD-C55C-C36E-EB75-CF0C96AA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1/08/2026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DC4F85-E388-EE6A-1B35-7E6E94E75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7E053E-DDCD-9FDC-C558-F07F86DB7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511226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50787-5B44-1E1E-C98E-17A43385C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9BE95D-8B60-9DC1-5701-BF5437A66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87189-1220-7EF5-7467-74E03D5ED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1/08/2026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163B6-94DD-1E0D-6C9E-69E2399E1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2C061-8EC4-0C82-35F6-FB9C4BA3B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058404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861572-E9BE-9B75-33EF-D4B71EA0AF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05A8AB-F7E6-408B-EFB2-A16DB332D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94DF7-F334-D689-3F9A-C6C035603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1/08/2026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45E46-8723-51E6-A678-AC81583BB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A62E8-7C27-3FAE-A4BF-119605893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2509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BC8005C-7059-394A-5A7F-ADC560A00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1F0D5C-0C3B-8E6D-BFE1-56159D559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E041F9-8DD3-E69E-92E5-4B036E7F04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08EDE-BAAD-1743-A60D-6B891320FA45}" type="datetimeFigureOut">
              <a:rPr lang="es-CO" smtClean="0"/>
              <a:t>1/08/2026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B60668-6D85-2862-B828-AA14A716B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B7542E-F1B7-7AC5-E112-1617942BE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1630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708DFF-3046-6ABB-BDE2-37A69F1AE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5D301-E944-EF85-1B1F-56F83B3E5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7C0A0-D3C7-157B-2681-77207473FC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6194F7-949B-4C16-A53F-8E9583A4A0C5}" type="datetimeFigureOut">
              <a:rPr lang="es-CO" smtClean="0"/>
              <a:t>1/08/2026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2C750-38DF-F531-0238-A869F7338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F002E-F8BD-2A7C-5F20-DC97119BD5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01337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A636AB6E-D708-FC46-3E1B-AD35787DC531}"/>
              </a:ext>
            </a:extLst>
          </p:cNvPr>
          <p:cNvSpPr/>
          <p:nvPr/>
        </p:nvSpPr>
        <p:spPr>
          <a:xfrm>
            <a:off x="0" y="0"/>
            <a:ext cx="12192000" cy="68932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EBE24467-A941-3231-8A3E-21FD4EFF51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9328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BB023E5-08B0-2427-9715-09205CDB1D6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582" t="36088" r="1507" b="26199"/>
          <a:stretch/>
        </p:blipFill>
        <p:spPr>
          <a:xfrm>
            <a:off x="10060726" y="5395594"/>
            <a:ext cx="1806809" cy="132302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378A125-782B-9B4C-F519-EACF80EA5374}"/>
              </a:ext>
            </a:extLst>
          </p:cNvPr>
          <p:cNvSpPr txBox="1"/>
          <p:nvPr/>
        </p:nvSpPr>
        <p:spPr>
          <a:xfrm>
            <a:off x="4375678" y="5937607"/>
            <a:ext cx="5600856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/>
            <a:r>
              <a:rPr lang="es-ES">
                <a:latin typeface="Century Gothic"/>
              </a:rPr>
              <a:t>FUNDAMENTOS PARA IA · NRC 94103</a:t>
            </a:r>
            <a:endParaRPr lang="es-ES"/>
          </a:p>
          <a:p>
            <a:pPr algn="r"/>
            <a:r>
              <a:rPr lang="es-ES">
                <a:latin typeface="Century Gothic"/>
              </a:rPr>
              <a:t>Semana 6 · Agosto 2026</a:t>
            </a:r>
            <a:endParaRPr lang="es-CO">
              <a:latin typeface="Century Gothic" panose="020B0502020202020204" pitchFamily="34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5595C607-E050-1D31-A7F0-5C432315B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/>
          <a:srcRect l="1043" t="-3087" r="-3874" b="-2265"/>
          <a:stretch/>
        </p:blipFill>
        <p:spPr bwMode="auto">
          <a:xfrm rot="254132">
            <a:off x="1482100" y="1817745"/>
            <a:ext cx="3372018" cy="2165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n 15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2942E92C-F850-AC01-A952-6D862E39B8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533" y="274062"/>
            <a:ext cx="3782002" cy="123679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55B1B1DD-C336-11D0-3F79-3F350C0F3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5294" y="3090743"/>
            <a:ext cx="8120478" cy="1797326"/>
          </a:xfrm>
        </p:spPr>
        <p:txBody>
          <a:bodyPr>
            <a:normAutofit fontScale="90000"/>
          </a:bodyPr>
          <a:lstStyle/>
          <a:p>
            <a:r>
              <a:rPr lang="es-CO" sz="4400" b="1" dirty="0">
                <a:solidFill>
                  <a:srgbClr val="FFC000"/>
                </a:solidFill>
                <a:latin typeface="Century Gothic"/>
              </a:rPr>
              <a:t>CONCEPTOS BÁSICOS DE ESTADÍSTICA INFERENCIAL Y TEST DE HIPÓTESIS</a:t>
            </a:r>
          </a:p>
        </p:txBody>
      </p:sp>
    </p:spTree>
    <p:extLst>
      <p:ext uri="{BB962C8B-B14F-4D97-AF65-F5344CB8AC3E}">
        <p14:creationId xmlns:p14="http://schemas.microsoft.com/office/powerpoint/2010/main" val="2695536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ítulo 1">
            <a:extLst>
              <a:ext uri="{FF2B5EF4-FFF2-40B4-BE49-F238E27FC236}">
                <a16:creationId xmlns:a16="http://schemas.microsoft.com/office/drawing/2014/main" id="{F0E97F75-4E8D-4225-ACDC-192F32266A97}"/>
              </a:ext>
            </a:extLst>
          </p:cNvPr>
          <p:cNvSpPr txBox="1">
            <a:spLocks/>
          </p:cNvSpPr>
          <p:nvPr/>
        </p:nvSpPr>
        <p:spPr>
          <a:xfrm>
            <a:off x="622716" y="139272"/>
            <a:ext cx="5913201" cy="55482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rdana"/>
                <a:ea typeface="+mj-ea"/>
                <a:cs typeface="+mj-cs"/>
              </a:rPr>
              <a:t>Tabla de Contenido</a:t>
            </a:r>
            <a:endParaRPr kumimoji="0" lang="es-CO" sz="3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rdana"/>
              <a:ea typeface="+mj-ea"/>
              <a:cs typeface="+mj-cs"/>
            </a:endParaRPr>
          </a:p>
        </p:txBody>
      </p:sp>
      <p:sp>
        <p:nvSpPr>
          <p:cNvPr id="29" name="TextBox 4">
            <a:extLst>
              <a:ext uri="{FF2B5EF4-FFF2-40B4-BE49-F238E27FC236}">
                <a16:creationId xmlns:a16="http://schemas.microsoft.com/office/drawing/2014/main" id="{4AB2D2AB-799F-44C6-A8C2-F98B1C7C105E}"/>
              </a:ext>
            </a:extLst>
          </p:cNvPr>
          <p:cNvSpPr txBox="1"/>
          <p:nvPr/>
        </p:nvSpPr>
        <p:spPr>
          <a:xfrm>
            <a:off x="164505" y="1532450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01.</a:t>
            </a:r>
          </a:p>
        </p:txBody>
      </p:sp>
      <p:sp>
        <p:nvSpPr>
          <p:cNvPr id="30" name="TextBox 5">
            <a:extLst>
              <a:ext uri="{FF2B5EF4-FFF2-40B4-BE49-F238E27FC236}">
                <a16:creationId xmlns:a16="http://schemas.microsoft.com/office/drawing/2014/main" id="{6DE6E35C-B117-43DD-A072-693CA0C8506F}"/>
              </a:ext>
            </a:extLst>
          </p:cNvPr>
          <p:cNvSpPr txBox="1"/>
          <p:nvPr/>
        </p:nvSpPr>
        <p:spPr>
          <a:xfrm>
            <a:off x="164505" y="3132567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02.</a:t>
            </a:r>
          </a:p>
        </p:txBody>
      </p:sp>
      <p:sp>
        <p:nvSpPr>
          <p:cNvPr id="31" name="TextBox 6">
            <a:extLst>
              <a:ext uri="{FF2B5EF4-FFF2-40B4-BE49-F238E27FC236}">
                <a16:creationId xmlns:a16="http://schemas.microsoft.com/office/drawing/2014/main" id="{95FB1313-D0FA-4E96-B4A3-DD20E1991AC4}"/>
              </a:ext>
            </a:extLst>
          </p:cNvPr>
          <p:cNvSpPr txBox="1"/>
          <p:nvPr/>
        </p:nvSpPr>
        <p:spPr>
          <a:xfrm rot="10800000" flipV="1">
            <a:off x="893090" y="1696711"/>
            <a:ext cx="4484296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Descriptiva e inferencial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TextBox 11">
            <a:extLst>
              <a:ext uri="{FF2B5EF4-FFF2-40B4-BE49-F238E27FC236}">
                <a16:creationId xmlns:a16="http://schemas.microsoft.com/office/drawing/2014/main" id="{B0BE0913-DB4C-4916-9947-1697026CE0B3}"/>
              </a:ext>
            </a:extLst>
          </p:cNvPr>
          <p:cNvSpPr txBox="1"/>
          <p:nvPr/>
        </p:nvSpPr>
        <p:spPr>
          <a:xfrm>
            <a:off x="239764" y="4644334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03.</a:t>
            </a:r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280CAB23-A6AD-465B-A138-12C209352194}"/>
              </a:ext>
            </a:extLst>
          </p:cNvPr>
          <p:cNvSpPr txBox="1"/>
          <p:nvPr/>
        </p:nvSpPr>
        <p:spPr>
          <a:xfrm>
            <a:off x="5413195" y="3107265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05.</a:t>
            </a:r>
          </a:p>
        </p:txBody>
      </p:sp>
      <p:sp>
        <p:nvSpPr>
          <p:cNvPr id="34" name="TextBox 6">
            <a:extLst>
              <a:ext uri="{FF2B5EF4-FFF2-40B4-BE49-F238E27FC236}">
                <a16:creationId xmlns:a16="http://schemas.microsoft.com/office/drawing/2014/main" id="{A4090016-0F69-433E-8CC4-F84AD53DBE15}"/>
              </a:ext>
            </a:extLst>
          </p:cNvPr>
          <p:cNvSpPr txBox="1"/>
          <p:nvPr/>
        </p:nvSpPr>
        <p:spPr>
          <a:xfrm>
            <a:off x="1093029" y="4792737"/>
            <a:ext cx="4484296" cy="32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Hipótesis H0 y H1</a:t>
            </a:r>
          </a:p>
        </p:txBody>
      </p:sp>
      <p:sp>
        <p:nvSpPr>
          <p:cNvPr id="35" name="TextBox 12">
            <a:extLst>
              <a:ext uri="{FF2B5EF4-FFF2-40B4-BE49-F238E27FC236}">
                <a16:creationId xmlns:a16="http://schemas.microsoft.com/office/drawing/2014/main" id="{6E8B458C-996C-4092-94D5-2AB68B70AD7F}"/>
              </a:ext>
            </a:extLst>
          </p:cNvPr>
          <p:cNvSpPr txBox="1"/>
          <p:nvPr/>
        </p:nvSpPr>
        <p:spPr>
          <a:xfrm>
            <a:off x="6241489" y="1573935"/>
            <a:ext cx="4484296" cy="32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Significancia y p-value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TextBox 6">
            <a:extLst>
              <a:ext uri="{FF2B5EF4-FFF2-40B4-BE49-F238E27FC236}">
                <a16:creationId xmlns:a16="http://schemas.microsoft.com/office/drawing/2014/main" id="{C46DB1DF-06BF-4441-8C15-62E87A62DE40}"/>
              </a:ext>
            </a:extLst>
          </p:cNvPr>
          <p:cNvSpPr txBox="1"/>
          <p:nvPr/>
        </p:nvSpPr>
        <p:spPr>
          <a:xfrm>
            <a:off x="996573" y="3116745"/>
            <a:ext cx="4484296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Población y muestra</a:t>
            </a:r>
            <a:endParaRPr kumimoji="0" lang="es-CO" sz="1400" b="0" i="0" u="none" strike="noStrike" kern="1200" cap="none" spc="0" normalizeH="0" baseline="0" noProof="0" dirty="0">
              <a:ln>
                <a:noFill/>
              </a:ln>
              <a:solidFill>
                <a:srgbClr val="737373"/>
              </a:solidFill>
              <a:effectLst/>
              <a:uLnTx/>
              <a:uFillTx/>
              <a:latin typeface="DM Sans Bold"/>
              <a:ea typeface="+mn-ea"/>
              <a:cs typeface="+mn-cs"/>
            </a:endParaRPr>
          </a:p>
        </p:txBody>
      </p:sp>
      <p:sp>
        <p:nvSpPr>
          <p:cNvPr id="37" name="TextBox 12">
            <a:extLst>
              <a:ext uri="{FF2B5EF4-FFF2-40B4-BE49-F238E27FC236}">
                <a16:creationId xmlns:a16="http://schemas.microsoft.com/office/drawing/2014/main" id="{7CE022EF-58EB-42DD-AA75-5219C0440962}"/>
              </a:ext>
            </a:extLst>
          </p:cNvPr>
          <p:cNvSpPr txBox="1"/>
          <p:nvPr/>
        </p:nvSpPr>
        <p:spPr>
          <a:xfrm>
            <a:off x="6383859" y="3121556"/>
            <a:ext cx="4960451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Calibri"/>
                <a:cs typeface="Calibri"/>
              </a:rPr>
              <a:t>Errores tipo I y II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F3A6312D-31F8-4D5C-8934-24A01ECA15C0}"/>
              </a:ext>
            </a:extLst>
          </p:cNvPr>
          <p:cNvSpPr txBox="1"/>
          <p:nvPr/>
        </p:nvSpPr>
        <p:spPr>
          <a:xfrm>
            <a:off x="5413728" y="1540473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04.</a:t>
            </a:r>
          </a:p>
        </p:txBody>
      </p:sp>
      <p:sp>
        <p:nvSpPr>
          <p:cNvPr id="39" name="TextBox 5">
            <a:extLst>
              <a:ext uri="{FF2B5EF4-FFF2-40B4-BE49-F238E27FC236}">
                <a16:creationId xmlns:a16="http://schemas.microsoft.com/office/drawing/2014/main" id="{80A445F9-F3F3-4363-A875-A1E852063013}"/>
              </a:ext>
            </a:extLst>
          </p:cNvPr>
          <p:cNvSpPr txBox="1"/>
          <p:nvPr/>
        </p:nvSpPr>
        <p:spPr>
          <a:xfrm>
            <a:off x="5485614" y="4638365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06.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0F79177-F72B-A56A-B375-1ABE30756E86}"/>
              </a:ext>
            </a:extLst>
          </p:cNvPr>
          <p:cNvSpPr txBox="1"/>
          <p:nvPr/>
        </p:nvSpPr>
        <p:spPr>
          <a:xfrm>
            <a:off x="6380104" y="4602103"/>
            <a:ext cx="392853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Supuestos y prueba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3209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Estadística descriptiva vs. inferencial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Descriptiva: </a:t>
            </a:r>
            <a:r>
              <a:rPr lang="es-CO" sz="1700" dirty="0"/>
              <a:t>es como contar los dulces de tu salón y sacar el promedio: resume lo que ya viste.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Inferencial: </a:t>
            </a:r>
            <a:r>
              <a:rPr lang="es-CO" sz="1700" dirty="0"/>
              <a:t>es adivinar, con evidencia, qué pasa con muchos más niños que no mediste (toda la población).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Ejemplo: </a:t>
            </a:r>
            <a:r>
              <a:rPr lang="es-CO" sz="1700" i="1" dirty="0"/>
              <a:t>medimos las notas de 1000 estudiantes (descriptiva) para entender qué pasa con todos los que presentan este examen (inferencial).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¿Cuándo se usa?: </a:t>
            </a:r>
            <a:r>
              <a:rPr lang="es-CO" sz="1700" dirty="0"/>
              <a:t>la descriptiva, para resumir cualquier grupo de datos que ya tengas; la inferencial, cuando quieres opinar sobre un grupo grande a partir de uno pequeño.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Población, muestra y variables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Población y muestra: </a:t>
            </a:r>
            <a:r>
              <a:rPr lang="es-CO" sz="1700" dirty="0"/>
              <a:t>la población es TODO el colegio; la muestra es el salón que sí alcanzaste a preguntar.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Variables: </a:t>
            </a:r>
            <a:r>
              <a:rPr lang="es-CO" sz="1700" dirty="0"/>
              <a:t>la independiente es la que podría influir (tomar el curso), como regar una planta; la dependiente es lo que se mide (la nota), como qué tan alto creció.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Ejemplo: </a:t>
            </a:r>
            <a:r>
              <a:rPr lang="es-CO" sz="1700" i="1" dirty="0"/>
              <a:t>población = todos los estudiantes del mundo que presentan el examen; muestra = los 1000 del archivo.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¿Cuándo se usa?: </a:t>
            </a:r>
            <a:r>
              <a:rPr lang="es-CO" sz="1700" dirty="0"/>
              <a:t>siempre que vas a estudiar algo: primero define qué es tu población y tu muestra, y qué variable depende de cuál.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Hipótesis estadística: H0 y H1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H0: </a:t>
            </a:r>
            <a:r>
              <a:rPr lang="es-CO" sz="1700" dirty="0"/>
              <a:t>es la apuesta de “no pasa nada especial, todo es igual”.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H1: </a:t>
            </a:r>
            <a:r>
              <a:rPr lang="es-CO" sz="1700" dirty="0"/>
              <a:t>es la apuesta de “sí pasa algo, sí hay diferencia”.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Ejemplo: </a:t>
            </a:r>
            <a:r>
              <a:rPr lang="es-CO" sz="1700" i="1" dirty="0"/>
              <a:t>H0: el curso de preparación NO cambia la nota; H1: el curso de preparación SÍ la cambia.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¿Cuándo se usa?: </a:t>
            </a:r>
            <a:r>
              <a:rPr lang="es-CO" sz="1700" dirty="0"/>
              <a:t>cada vez que quieras comprobar si algo realmente cambia algo (como un curso, una dieta o un tratamiento).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Significancia (α), estadístico y p-value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p-value: </a:t>
            </a:r>
            <a:r>
              <a:rPr lang="es-CO" sz="1700" dirty="0"/>
              <a:t>te dice qué tan raro sería tu resultado si en realidad no pasara nada especial (si H0 fuera cierta).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Regla simple: </a:t>
            </a:r>
            <a:r>
              <a:rPr lang="es-CO" sz="1700" dirty="0"/>
              <a:t>si ese número es menor a 0.05, es una casualidad demasiado rara: le creemos a H1.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Ejemplo: </a:t>
            </a:r>
            <a:r>
              <a:rPr lang="es-CO" sz="1700" i="1" dirty="0"/>
              <a:t>en nuestros datos, ese número salió muchísimo menor a 0.05, casi cero: le creemos a H1.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¿Cuándo se usa?: </a:t>
            </a:r>
            <a:r>
              <a:rPr lang="es-CO" sz="1700" dirty="0"/>
              <a:t>al final de cualquier prueba estadística, para decidir si le crees a H0 o a H1.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Errores tipo I y tipo II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Error tipo I: </a:t>
            </a:r>
            <a:r>
              <a:rPr lang="es-CO" sz="1700" dirty="0"/>
              <a:t>es una falsa alarma: suena la alarma pero no hay incendio (decir que sí hay diferencia sin que sea cierto).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Error tipo II: </a:t>
            </a:r>
            <a:r>
              <a:rPr lang="es-CO" sz="1700" dirty="0"/>
              <a:t>es no darte cuenta: hay incendio de verdad pero la alarma no suena (no ver una diferencia que sí existe).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Ejemplo: </a:t>
            </a:r>
            <a:r>
              <a:rPr lang="es-CO" sz="1700" i="1" dirty="0"/>
              <a:t>con 1000 estudiantes (muchos datos), es menos probable no darnos cuenta de una diferencia real.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¿Cuándo se usa?: </a:t>
            </a:r>
            <a:r>
              <a:rPr lang="es-CO" sz="1700" dirty="0"/>
              <a:t>para recordar, antes de anunciar un resultado, que siempre existe el riesgo de una falsa alarma o de no darte cuenta de algo real.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Supuestos y selección de la prueba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Supuestos: </a:t>
            </a:r>
            <a:r>
              <a:rPr lang="es-CO" sz="1700" dirty="0"/>
              <a:t>antes de usar una herramienta, probamos el agua con el dedo: vemos si los datos forman una “campana” (normalidad) y si los grupos se parecen entre sí (homogeneidad).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Elegir la prueba: </a:t>
            </a:r>
            <a:r>
              <a:rPr lang="es-CO" sz="1700" dirty="0"/>
              <a:t>si los datos son “normales” usamos herramientas paramétricas (t, ANOVA); si no, usamos las no paramétricas (Mann-Whitney, Kruskal-Wallis).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Ejemplo: </a:t>
            </a:r>
            <a:r>
              <a:rPr lang="es-CO" sz="1700" i="1" dirty="0"/>
              <a:t>en uno de nuestros grupos los datos no salieron tan “normales”, así que elegimos la herramienta no paramétrica (Mann-Whitney U).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¿Cuándo se usa?: </a:t>
            </a:r>
            <a:r>
              <a:rPr lang="es-CO" sz="1700" dirty="0"/>
              <a:t>justo antes de elegir qué herramienta estadística aplicar (paramétrica o no paramétrica) a tus datos.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EFB09-AAE8-62F0-3A62-E003F41D3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6FFB1F00-BE97-BE98-7D23-907738D05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57" y="1895"/>
            <a:ext cx="12192000" cy="68580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CF2E2F08-52A4-C49F-8F6A-FFD7963C46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3493" y="352325"/>
            <a:ext cx="4193066" cy="1261802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D4F57740-2D4F-3CF9-5FAE-C46DADEBE4AF}"/>
              </a:ext>
            </a:extLst>
          </p:cNvPr>
          <p:cNvSpPr txBox="1"/>
          <p:nvPr/>
        </p:nvSpPr>
        <p:spPr>
          <a:xfrm>
            <a:off x="423578" y="4402909"/>
            <a:ext cx="110163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i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 Narrow" panose="020B0004020202020204" pitchFamily="34" charset="0"/>
              </a:rPr>
              <a:t>www.uniminuto.edu</a:t>
            </a:r>
            <a:r>
              <a:rPr lang="es-ES" sz="2800" b="1" i="0">
                <a:solidFill>
                  <a:srgbClr val="FEBE05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 Narrow" panose="020B0004020202020204" pitchFamily="34" charset="0"/>
              </a:rPr>
              <a:t>/uniminuto-virtual</a:t>
            </a:r>
            <a:endParaRPr lang="es-CO" sz="2800" b="1">
              <a:solidFill>
                <a:srgbClr val="FEBE05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3906353-C08E-4548-090D-A1EBFD47B7BF}"/>
              </a:ext>
            </a:extLst>
          </p:cNvPr>
          <p:cNvSpPr txBox="1"/>
          <p:nvPr/>
        </p:nvSpPr>
        <p:spPr>
          <a:xfrm>
            <a:off x="3535712" y="1938579"/>
            <a:ext cx="5784486" cy="1203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CO" sz="8000" b="1" kern="10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GRACIAS</a:t>
            </a:r>
          </a:p>
        </p:txBody>
      </p:sp>
      <p:pic>
        <p:nvPicPr>
          <p:cNvPr id="17" name="Picture 4">
            <a:extLst>
              <a:ext uri="{FF2B5EF4-FFF2-40B4-BE49-F238E27FC236}">
                <a16:creationId xmlns:a16="http://schemas.microsoft.com/office/drawing/2014/main" id="{0A3E55B8-D253-DBAD-1101-11B3FFFC13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l="1043" t="-3087" r="-3874" b="-2265"/>
          <a:stretch/>
        </p:blipFill>
        <p:spPr bwMode="auto">
          <a:xfrm rot="254132">
            <a:off x="1873003" y="1932882"/>
            <a:ext cx="2224970" cy="121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492E92B6-11F2-A11D-1E16-791654733331}"/>
              </a:ext>
            </a:extLst>
          </p:cNvPr>
          <p:cNvSpPr/>
          <p:nvPr/>
        </p:nvSpPr>
        <p:spPr>
          <a:xfrm>
            <a:off x="160357" y="921392"/>
            <a:ext cx="7401413" cy="122575"/>
          </a:xfrm>
          <a:prstGeom prst="rect">
            <a:avLst/>
          </a:prstGeom>
          <a:solidFill>
            <a:srgbClr val="FEBE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DB3FEE3-64D0-772A-0A61-D11F12ECF337}"/>
              </a:ext>
            </a:extLst>
          </p:cNvPr>
          <p:cNvSpPr txBox="1"/>
          <p:nvPr/>
        </p:nvSpPr>
        <p:spPr>
          <a:xfrm>
            <a:off x="2985950" y="3172713"/>
            <a:ext cx="6142437" cy="1167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000"/>
              </a:lnSpc>
            </a:pPr>
            <a:r>
              <a:rPr lang="es-ES" b="1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   </a:t>
            </a:r>
            <a:r>
              <a:rPr lang="es-ES" sz="1600" b="1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Educamos sin fronteras transformándonos para el futuro con </a:t>
            </a:r>
          </a:p>
          <a:p>
            <a:pPr>
              <a:lnSpc>
                <a:spcPts val="4000"/>
              </a:lnSpc>
            </a:pPr>
            <a:r>
              <a:rPr lang="es-ES" sz="4400" b="1">
                <a:solidFill>
                  <a:srgbClr val="FEBE05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    CALIDAD Y CALIDEZ</a:t>
            </a:r>
            <a:endParaRPr lang="es-CO" sz="4400" b="1">
              <a:solidFill>
                <a:srgbClr val="FEBE05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BB92EF03-AA5F-BDC6-8DD7-15962ED544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34883" y="5628381"/>
            <a:ext cx="1427032" cy="78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1779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Ejercicio: descriptiva vs. inferencial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Situación: </a:t>
            </a:r>
            <a:r>
              <a:rPr lang="es-CO" sz="1700" dirty="0"/>
              <a:t>642 estudiantes sin curso promedian 64.08 en matemáticas; 358 con curso promedian 69.70.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Pregunta: </a:t>
            </a:r>
            <a:r>
              <a:rPr lang="es-CO" sz="1700" dirty="0"/>
              <a:t>¿la frase “el curso mejora el promedio de TODOS los estudiantes que presentan el examen” es descriptiva o inferencial?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Respuesta: </a:t>
            </a:r>
            <a:r>
              <a:rPr lang="es-CO" sz="1700" i="1" dirty="0"/>
              <a:t>es inferencial: generaliza más allá de los 1000 estudiantes de la muestra hacia toda la población.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¿Por qué importa?: </a:t>
            </a:r>
            <a:r>
              <a:rPr lang="es-CO" sz="1700" dirty="0"/>
              <a:t>ver una diferencia en la muestra no basta; hace falta una prueba de hipótesis para saber si es real o azar.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Ejercicio: población, muestra y variables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Situación: </a:t>
            </a:r>
            <a:r>
              <a:rPr lang="es-CO" sz="1700" dirty="0"/>
              <a:t>el grupo “master's degree” en nivel educativo de los padres tiene solo 59 estudiantes, frente a 226 en “some college”.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Pregunta: </a:t>
            </a:r>
            <a:r>
              <a:rPr lang="es-CO" sz="1700" dirty="0"/>
              <a:t>¿por qué ese grupo pequeño da una idea menos confiable de su promedio? Y en “¿lunch se relaciona con writing score?”, ¿cuál es la dependiente y cuál la independiente?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Respuesta: </a:t>
            </a:r>
            <a:r>
              <a:rPr lang="es-CO" sz="1700" i="1" dirty="0"/>
              <a:t>con menos datos, un solo caso atípico pesa más en el promedio. Dependiente: writing score; independiente: lunch.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¿Por qué importa?: </a:t>
            </a:r>
            <a:r>
              <a:rPr lang="es-CO" sz="1700" dirty="0"/>
              <a:t>identificar bien la muestra y las variables es el primer paso antes de plantear cualquier hipótesis.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Ejercicio: plantear H0 y H1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Situación: </a:t>
            </a:r>
            <a:r>
              <a:rPr lang="es-CO" sz="1700" dirty="0"/>
              <a:t>quieres saber si el tipo de almuerzo (lunch: standard vs. free/reduced) se relaciona con el puntaje de escritura.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Pregunta: </a:t>
            </a:r>
            <a:r>
              <a:rPr lang="es-CO" sz="1700" dirty="0"/>
              <a:t>escribe H0 y H1 para esta comparación.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Respuesta: </a:t>
            </a:r>
            <a:r>
              <a:rPr lang="es-CO" sz="1700" i="1" dirty="0"/>
              <a:t>H0: los dos grupos tienen el mismo promedio. H1: el promedio sí difiere según el almuerzo (dato real: 70.82 vs. 63.02).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¿Por qué importa?: </a:t>
            </a:r>
            <a:r>
              <a:rPr lang="es-CO" sz="1700" dirty="0"/>
              <a:t>toda prueba de hipótesis arranca planteando estas dos apuestas antes de calcular nada.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Ejercicio: interpretar el p-value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Situación: </a:t>
            </a:r>
            <a:r>
              <a:rPr lang="es-CO" sz="1700" dirty="0"/>
              <a:t>al comparar el puntaje de matemáticas entre grupos de curso de preparación, el p-value da 0.00000008.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Pregunta: </a:t>
            </a:r>
            <a:r>
              <a:rPr lang="es-CO" sz="1700" dirty="0"/>
              <a:t>¿ese resultado es chiquito o grande según la regla de 0.05? ¿Le creemos a H0 o a H1?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Respuesta: </a:t>
            </a:r>
            <a:r>
              <a:rPr lang="es-CO" sz="1700" i="1" dirty="0"/>
              <a:t>es chiquito, muchísimo menor a 0.05 → le creemos a H1, se rechaza H0.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¿Por qué importa?: </a:t>
            </a:r>
            <a:r>
              <a:rPr lang="es-CO" sz="1700" dirty="0"/>
              <a:t>sería casi imposible ver esa diferencia por pura casualidad si el curso no tuviera ningún efecto.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Ejercicio: errores tipo I y II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Situación: </a:t>
            </a:r>
            <a:r>
              <a:rPr lang="es-CO" sz="1700" dirty="0"/>
              <a:t>concluimos “el curso SÍ mejora la nota” cuando en realidad no tiene ningún efecto real en la población.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Pregunta: </a:t>
            </a:r>
            <a:r>
              <a:rPr lang="es-CO" sz="1700" dirty="0"/>
              <a:t>¿qué tipo de error es este? ¿Y el caso contrario (decir “no hay efecto” cuando sí lo hay)?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Respuesta: </a:t>
            </a:r>
            <a:r>
              <a:rPr lang="es-CO" sz="1700" i="1" dirty="0"/>
              <a:t>el primero es error tipo I (falsa alarma); el segundo es error tipo II (no darse cuenta).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¿Por qué importa?: </a:t>
            </a:r>
            <a:r>
              <a:rPr lang="es-CO" sz="1700" dirty="0"/>
              <a:t>con más datos (como nuestros 1000 estudiantes), es menos probable cometer el error tipo II.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Ejercicio: supuestos y elegir la prueba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Situación: </a:t>
            </a:r>
            <a:r>
              <a:rPr lang="es-CO" sz="1700" dirty="0"/>
              <a:t>los dos grupos de curso de preparación tienen variabilidad parecida (desv. est. de 14 a 15 puntos); race/ethnicity tiene 5 grupos distintos.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Pregunta: </a:t>
            </a:r>
            <a:r>
              <a:rPr lang="es-CO" sz="1700" dirty="0"/>
              <a:t>¿eso describe normalidad u homogeneidad de varianzas? Con 5 grupos, ¿qué herramienta paramétrica usarías (no la prueba t)?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Respuesta: </a:t>
            </a:r>
            <a:r>
              <a:rPr lang="es-CO" sz="1700" i="1" dirty="0"/>
              <a:t>es homogeneidad de varianzas. Con más de 2 grupos se usa ANOVA (o Kruskal-Wallis si no hay normalidad).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¿Por qué importa?: </a:t>
            </a:r>
            <a:r>
              <a:rPr lang="es-CO" sz="1700" dirty="0"/>
              <a:t>revisar los supuestos antes de comparar evita usar una herramienta con condiciones que los datos no cumplen.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710</Words>
  <Application>Microsoft Office PowerPoint</Application>
  <PresentationFormat>Panorámica</PresentationFormat>
  <Paragraphs>54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9</vt:i4>
      </vt:variant>
    </vt:vector>
  </HeadingPairs>
  <TitlesOfParts>
    <vt:vector size="20" baseType="lpstr">
      <vt:lpstr>Aptos</vt:lpstr>
      <vt:lpstr>Aptos Display</vt:lpstr>
      <vt:lpstr>Aptos Narrow</vt:lpstr>
      <vt:lpstr>Arial</vt:lpstr>
      <vt:lpstr>Calibri</vt:lpstr>
      <vt:lpstr>Calibri Light</vt:lpstr>
      <vt:lpstr>Cardana</vt:lpstr>
      <vt:lpstr>Century Gothic</vt:lpstr>
      <vt:lpstr>DM Sans Bold</vt:lpstr>
      <vt:lpstr>Tema de Office</vt:lpstr>
      <vt:lpstr>Office Theme</vt:lpstr>
      <vt:lpstr>CONCEPTOS BÁSICOS DE ESTADÍSTICA INFERENCIAL Y TEST DE HIPÓTESIS</vt:lpstr>
      <vt:lpstr>Presentación de PowerPoint</vt:lpstr>
      <vt:lpstr>Estadística descriptiva vs. inferencial</vt:lpstr>
      <vt:lpstr>Población, muestra y variables</vt:lpstr>
      <vt:lpstr>Hipótesis estadística: H0 y H1</vt:lpstr>
      <vt:lpstr>Significancia (α), estadístico y p-value</vt:lpstr>
      <vt:lpstr>Errores tipo I y tipo II</vt:lpstr>
      <vt:lpstr>Supuestos y selección de la prueba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LINA MARCELA NIETO ALBA</dc:creator>
  <cp:lastModifiedBy>Cesar Alfonso</cp:lastModifiedBy>
  <cp:revision>65</cp:revision>
  <dcterms:created xsi:type="dcterms:W3CDTF">2024-01-22T15:06:30Z</dcterms:created>
  <dcterms:modified xsi:type="dcterms:W3CDTF">2026-08-01T16:02:42Z</dcterms:modified>
</cp:coreProperties>
</file>